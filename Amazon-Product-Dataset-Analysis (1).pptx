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Inter Light"/>
      <p:regular r:id="rId201314"/>
    </p:embeddedFont>
    <p:embeddedFont>
      <p:font typeface="Inter Bold"/>
      <p:regular r:id="rId201315"/>
    </p:embeddedFont>
    <p:embeddedFont>
      <p:font typeface="Montserrat Medium"/>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1.png"/><Relationship Id="rId4" Type="http://schemas.openxmlformats.org/officeDocument/2006/relationships/image" Target="../media/image-6-2.svg"/><Relationship Id="rId5" Type="http://schemas.openxmlformats.org/officeDocument/2006/relationships/image" Target="../media/image-6-1.png"/><Relationship Id="rId6" Type="http://schemas.openxmlformats.org/officeDocument/2006/relationships/image" Target="../media/image-6-2.svg"/><Relationship Id="rId7" Type="http://schemas.openxmlformats.org/officeDocument/2006/relationships/image" Target="../media/image-6-1.png"/><Relationship Id="rId8" Type="http://schemas.openxmlformats.org/officeDocument/2006/relationships/image" Target="../media/image-6-2.svg"/><Relationship Id="rId9" Type="http://schemas.openxmlformats.org/officeDocument/2006/relationships/image" Target="../media/image-6-1.png"/><Relationship Id="rId10" Type="http://schemas.openxmlformats.org/officeDocument/2006/relationships/image" Target="../media/image-6-2.svg"/><Relationship Id="rId11" Type="http://schemas.openxmlformats.org/officeDocument/2006/relationships/slideLayout" Target="../slideLayouts/slideLayout2.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1.png"/><Relationship Id="rId4" Type="http://schemas.openxmlformats.org/officeDocument/2006/relationships/image" Target="../media/image-9-2.svg"/><Relationship Id="rId5" Type="http://schemas.openxmlformats.org/officeDocument/2006/relationships/image" Target="../media/image-9-1.png"/><Relationship Id="rId6" Type="http://schemas.openxmlformats.org/officeDocument/2006/relationships/image" Target="../media/image-9-2.svg"/><Relationship Id="rId7" Type="http://schemas.openxmlformats.org/officeDocument/2006/relationships/image" Target="../media/image-9-1.png"/><Relationship Id="rId8" Type="http://schemas.openxmlformats.org/officeDocument/2006/relationships/image" Target="../media/image-9-2.svg"/><Relationship Id="rId9" Type="http://schemas.openxmlformats.org/officeDocument/2006/relationships/slideLayout" Target="../slideLayouts/slideLayout2.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040235"/>
            <a:ext cx="6296860" cy="1033463"/>
          </a:xfrm>
          <a:prstGeom prst="rect">
            <a:avLst/>
          </a:prstGeom>
          <a:noFill/>
          <a:ln/>
        </p:spPr>
        <p:txBody>
          <a:bodyPr wrap="square" lIns="0" tIns="0" rIns="0" bIns="0" rtlCol="0" anchor="t">
            <a:normAutofit/>
          </a:bodyPr>
          <a:lstStyle/>
          <a:p>
            <a:pPr algn="l" indent="0" marL="0">
              <a:lnSpc>
                <a:spcPct val="104000"/>
              </a:lnSpc>
              <a:buNone/>
            </a:pPr>
            <a:r>
              <a:rPr lang="en-US" sz="3250" dirty="0">
                <a:solidFill>
                  <a:srgbClr val="74767D"/>
                </a:solidFill>
                <a:latin typeface="Montserrat Medium" pitchFamily="34" charset="0"/>
                <a:ea typeface="Montserrat Medium" pitchFamily="34" charset="-122"/>
                <a:cs typeface="Montserrat Medium" pitchFamily="34" charset="-120"/>
              </a:rPr>
              <a:t>Amazon Product Dataset Analysis</a:t>
            </a:r>
            <a:endParaRPr lang="en-US" sz="3250" dirty="0"/>
          </a:p>
        </p:txBody>
      </p:sp>
      <p:sp>
        <p:nvSpPr>
          <p:cNvPr id="4" name="Text 1"/>
          <p:cNvSpPr/>
          <p:nvPr/>
        </p:nvSpPr>
        <p:spPr>
          <a:xfrm>
            <a:off x="5233360" y="3321745"/>
            <a:ext cx="6296860"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D3E44"/>
                </a:solidFill>
                <a:latin typeface="Inter Light" pitchFamily="34" charset="0"/>
                <a:ea typeface="Inter Light" pitchFamily="34" charset="-122"/>
                <a:cs typeface="Inter Light" pitchFamily="34" charset="-120"/>
              </a:rPr>
              <a:t>A comprehensive analysis of </a:t>
            </a:r>
            <a:pPr algn="l" indent="0" marL="0">
              <a:lnSpc>
                <a:spcPct val="133000"/>
              </a:lnSpc>
              <a:buNone/>
            </a:pPr>
            <a:r>
              <a:rPr lang="en-US" sz="1300" b="1" dirty="0">
                <a:solidFill>
                  <a:srgbClr val="3D3E44"/>
                </a:solidFill>
                <a:latin typeface="Inter Bold" pitchFamily="34" charset="0"/>
                <a:ea typeface="Inter Bold" pitchFamily="34" charset="-122"/>
                <a:cs typeface="Inter Bold" pitchFamily="34" charset="-120"/>
              </a:rPr>
              <a:t>1,465 Amazon product records</a:t>
            </a:r>
            <a:pPr algn="l" indent="0" marL="0">
              <a:lnSpc>
                <a:spcPct val="133000"/>
              </a:lnSpc>
              <a:buNone/>
            </a:pPr>
            <a:r>
              <a:rPr lang="en-US" sz="1300" dirty="0">
                <a:solidFill>
                  <a:srgbClr val="3D3E44"/>
                </a:solidFill>
                <a:latin typeface="Inter Light" pitchFamily="34" charset="0"/>
                <a:ea typeface="Inter Light" pitchFamily="34" charset="-122"/>
                <a:cs typeface="Inter Light" pitchFamily="34" charset="-120"/>
              </a:rPr>
              <a:t> — covering categories, pricing, discounts, ratings, and customer reviews. This report identifies top trends, key anomalies, and strategic recommendations to support e-commerce dashboard development and business decision-making.</a:t>
            </a:r>
            <a:endParaRPr lang="en-US" sz="1300" dirty="0"/>
          </a:p>
        </p:txBody>
      </p:sp>
      <p:sp>
        <p:nvSpPr>
          <p:cNvPr id="5" name="Shape 2"/>
          <p:cNvSpPr/>
          <p:nvPr/>
        </p:nvSpPr>
        <p:spPr>
          <a:xfrm>
            <a:off x="5233360" y="4566245"/>
            <a:ext cx="1288125" cy="251420"/>
          </a:xfrm>
          <a:prstGeom prst="roundRect">
            <a:avLst>
              <a:gd name="adj" fmla="val 47364"/>
            </a:avLst>
          </a:prstGeom>
          <a:solidFill>
            <a:srgbClr val="DFE1EC"/>
          </a:solidFill>
          <a:ln/>
        </p:spPr>
      </p:sp>
      <p:sp>
        <p:nvSpPr>
          <p:cNvPr id="6" name="Text 3"/>
          <p:cNvSpPr/>
          <p:nvPr/>
        </p:nvSpPr>
        <p:spPr>
          <a:xfrm>
            <a:off x="5332577" y="4615855"/>
            <a:ext cx="1699277" cy="152202"/>
          </a:xfrm>
          <a:prstGeom prst="rect">
            <a:avLst/>
          </a:prstGeom>
          <a:noFill/>
          <a:ln/>
        </p:spPr>
        <p:txBody>
          <a:bodyPr wrap="none" lIns="0" tIns="0" rIns="0" bIns="0" rtlCol="0" anchor="t"/>
          <a:lstStyle/>
          <a:p>
            <a:pPr algn="l" indent="0" marL="0">
              <a:lnSpc>
                <a:spcPct val="96000"/>
              </a:lnSpc>
              <a:buNone/>
            </a:pPr>
            <a:r>
              <a:rPr lang="en-US" sz="1000" dirty="0">
                <a:solidFill>
                  <a:srgbClr val="3D3E44"/>
                </a:solidFill>
                <a:latin typeface="Inter Light" pitchFamily="34" charset="0"/>
                <a:ea typeface="Inter Light" pitchFamily="34" charset="-122"/>
                <a:cs typeface="Inter Light" pitchFamily="34" charset="-120"/>
              </a:rPr>
              <a:t>1,465 PRODUCTS</a:t>
            </a:r>
            <a:endParaRPr lang="en-US" sz="1000" dirty="0"/>
          </a:p>
        </p:txBody>
      </p:sp>
      <p:sp>
        <p:nvSpPr>
          <p:cNvPr id="7" name="Shape 4"/>
          <p:cNvSpPr/>
          <p:nvPr/>
        </p:nvSpPr>
        <p:spPr>
          <a:xfrm>
            <a:off x="6604132" y="4566245"/>
            <a:ext cx="1182162" cy="251420"/>
          </a:xfrm>
          <a:prstGeom prst="roundRect">
            <a:avLst>
              <a:gd name="adj" fmla="val 47364"/>
            </a:avLst>
          </a:prstGeom>
          <a:noFill/>
          <a:ln w="6350">
            <a:solidFill>
              <a:srgbClr val="C6C9DC"/>
            </a:solidFill>
            <a:prstDash val="solid"/>
          </a:ln>
        </p:spPr>
      </p:sp>
      <p:sp>
        <p:nvSpPr>
          <p:cNvPr id="8" name="Text 5"/>
          <p:cNvSpPr/>
          <p:nvPr/>
        </p:nvSpPr>
        <p:spPr>
          <a:xfrm>
            <a:off x="6703349" y="4615855"/>
            <a:ext cx="1593314" cy="152202"/>
          </a:xfrm>
          <a:prstGeom prst="rect">
            <a:avLst/>
          </a:prstGeom>
          <a:noFill/>
          <a:ln/>
        </p:spPr>
        <p:txBody>
          <a:bodyPr wrap="none" lIns="0" tIns="0" rIns="0" bIns="0" rtlCol="0" anchor="t"/>
          <a:lstStyle/>
          <a:p>
            <a:pPr algn="l" indent="0" marL="0">
              <a:lnSpc>
                <a:spcPct val="96000"/>
              </a:lnSpc>
              <a:buNone/>
            </a:pPr>
            <a:r>
              <a:rPr lang="en-US" sz="1000" dirty="0">
                <a:solidFill>
                  <a:srgbClr val="C6C9DC"/>
                </a:solidFill>
                <a:latin typeface="Inter Light" pitchFamily="34" charset="0"/>
                <a:ea typeface="Inter Light" pitchFamily="34" charset="-122"/>
                <a:cs typeface="Inter Light" pitchFamily="34" charset="-120"/>
              </a:rPr>
              <a:t>13 CATEGORIES</a:t>
            </a:r>
            <a:endParaRPr lang="en-US" sz="1000" dirty="0"/>
          </a:p>
        </p:txBody>
      </p:sp>
      <p:sp>
        <p:nvSpPr>
          <p:cNvPr id="9" name="Shape 6"/>
          <p:cNvSpPr/>
          <p:nvPr/>
        </p:nvSpPr>
        <p:spPr>
          <a:xfrm>
            <a:off x="7868941" y="4566245"/>
            <a:ext cx="1962200" cy="251420"/>
          </a:xfrm>
          <a:prstGeom prst="roundRect">
            <a:avLst>
              <a:gd name="adj" fmla="val 47364"/>
            </a:avLst>
          </a:prstGeom>
          <a:noFill/>
          <a:ln w="6350">
            <a:solidFill>
              <a:srgbClr val="C6C9DC"/>
            </a:solidFill>
            <a:prstDash val="solid"/>
          </a:ln>
        </p:spPr>
      </p:sp>
      <p:sp>
        <p:nvSpPr>
          <p:cNvPr id="10" name="Text 7"/>
          <p:cNvSpPr/>
          <p:nvPr/>
        </p:nvSpPr>
        <p:spPr>
          <a:xfrm>
            <a:off x="7968158" y="4615855"/>
            <a:ext cx="2373352" cy="152202"/>
          </a:xfrm>
          <a:prstGeom prst="rect">
            <a:avLst/>
          </a:prstGeom>
          <a:noFill/>
          <a:ln/>
        </p:spPr>
        <p:txBody>
          <a:bodyPr wrap="none" lIns="0" tIns="0" rIns="0" bIns="0" rtlCol="0" anchor="t"/>
          <a:lstStyle/>
          <a:p>
            <a:pPr algn="l" indent="0" marL="0">
              <a:lnSpc>
                <a:spcPct val="96000"/>
              </a:lnSpc>
              <a:buNone/>
            </a:pPr>
            <a:r>
              <a:rPr lang="en-US" sz="1000" dirty="0">
                <a:solidFill>
                  <a:srgbClr val="C6C9DC"/>
                </a:solidFill>
                <a:latin typeface="Inter Light" pitchFamily="34" charset="0"/>
                <a:ea typeface="Inter Light" pitchFamily="34" charset="-122"/>
                <a:cs typeface="Inter Light" pitchFamily="34" charset="-120"/>
              </a:rPr>
              <a:t>DATASET-DRIVEN INSIGHTS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500261"/>
            <a:ext cx="10868745" cy="484485"/>
          </a:xfrm>
          <a:prstGeom prst="rect">
            <a:avLst/>
          </a:prstGeom>
          <a:noFill/>
          <a:ln/>
        </p:spPr>
        <p:txBody>
          <a:bodyPr wrap="none" lIns="0" tIns="0" rIns="0" bIns="0" rtlCol="0" anchor="t"/>
          <a:lstStyle/>
          <a:p>
            <a:pPr algn="l" indent="0" marL="0">
              <a:lnSpc>
                <a:spcPct val="104000"/>
              </a:lnSpc>
              <a:buNone/>
            </a:pPr>
            <a:r>
              <a:rPr lang="en-US" sz="3050" dirty="0">
                <a:solidFill>
                  <a:srgbClr val="74767D"/>
                </a:solidFill>
                <a:latin typeface="Montserrat Medium" pitchFamily="34" charset="0"/>
                <a:ea typeface="Montserrat Medium" pitchFamily="34" charset="-122"/>
                <a:cs typeface="Montserrat Medium" pitchFamily="34" charset="-120"/>
              </a:rPr>
              <a:t>Dataset Overview &amp; Column Reference</a:t>
            </a:r>
            <a:endParaRPr lang="en-US" sz="3050" dirty="0"/>
          </a:p>
        </p:txBody>
      </p:sp>
      <p:sp>
        <p:nvSpPr>
          <p:cNvPr id="3" name="Text 1"/>
          <p:cNvSpPr/>
          <p:nvPr/>
        </p:nvSpPr>
        <p:spPr>
          <a:xfrm>
            <a:off x="661475" y="1275457"/>
            <a:ext cx="10868745" cy="720923"/>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3D3E44"/>
                </a:solidFill>
                <a:latin typeface="Inter Light" pitchFamily="34" charset="0"/>
                <a:ea typeface="Inter Light" pitchFamily="34" charset="-122"/>
                <a:cs typeface="Inter Light" pitchFamily="34" charset="-120"/>
              </a:rPr>
              <a:t>This dataset contains </a:t>
            </a:r>
            <a:pPr algn="l" indent="0" marL="0">
              <a:lnSpc>
                <a:spcPct val="129000"/>
              </a:lnSpc>
              <a:buNone/>
            </a:pPr>
            <a:r>
              <a:rPr lang="en-US" sz="1200" b="1" dirty="0">
                <a:solidFill>
                  <a:srgbClr val="3D3E44"/>
                </a:solidFill>
                <a:latin typeface="Inter Bold" pitchFamily="34" charset="0"/>
                <a:ea typeface="Inter Bold" pitchFamily="34" charset="-122"/>
                <a:cs typeface="Inter Bold" pitchFamily="34" charset="-120"/>
              </a:rPr>
              <a:t>1,465 Amazon product records</a:t>
            </a:r>
            <a:pPr algn="l" indent="0" marL="0">
              <a:lnSpc>
                <a:spcPct val="129000"/>
              </a:lnSpc>
              <a:buNone/>
            </a:pPr>
            <a:r>
              <a:rPr lang="en-US" sz="1200" dirty="0">
                <a:solidFill>
                  <a:srgbClr val="3D3E44"/>
                </a:solidFill>
                <a:latin typeface="Inter Light" pitchFamily="34" charset="0"/>
                <a:ea typeface="Inter Light" pitchFamily="34" charset="-122"/>
                <a:cs typeface="Inter Light" pitchFamily="34" charset="-120"/>
              </a:rPr>
              <a:t> with product details, pricing, ratings, and customer reviews. It is ideal for building an e-commerce product/catalog and review analysis dashboard. </a:t>
            </a:r>
            <a:pPr algn="l" indent="0" marL="0">
              <a:lnSpc>
                <a:spcPct val="129000"/>
              </a:lnSpc>
              <a:buNone/>
            </a:pPr>
            <a:r>
              <a:rPr lang="en-US" sz="1200" b="1" dirty="0">
                <a:solidFill>
                  <a:srgbClr val="3D3E44"/>
                </a:solidFill>
                <a:latin typeface="Inter Bold" pitchFamily="34" charset="0"/>
                <a:ea typeface="Inter Bold" pitchFamily="34" charset="-122"/>
                <a:cs typeface="Inter Bold" pitchFamily="34" charset="-120"/>
              </a:rPr>
              <a:t>Important limitation:</a:t>
            </a:r>
            <a:pPr algn="l" indent="0" marL="0">
              <a:lnSpc>
                <a:spcPct val="129000"/>
              </a:lnSpc>
              <a:buNone/>
            </a:pPr>
            <a:r>
              <a:rPr lang="en-US" sz="1200" dirty="0">
                <a:solidFill>
                  <a:srgbClr val="3D3E44"/>
                </a:solidFill>
                <a:latin typeface="Inter Light" pitchFamily="34" charset="0"/>
                <a:ea typeface="Inter Light" pitchFamily="34" charset="-122"/>
                <a:cs typeface="Inter Light" pitchFamily="34" charset="-120"/>
              </a:rPr>
              <a:t> There is no sales quantity, revenue, or geographic Region column — this is product and review data, not a true sales dataset.</a:t>
            </a:r>
            <a:endParaRPr lang="en-US" sz="1200" dirty="0"/>
          </a:p>
        </p:txBody>
      </p:sp>
      <p:sp>
        <p:nvSpPr>
          <p:cNvPr id="4" name="Shape 2"/>
          <p:cNvSpPr/>
          <p:nvPr/>
        </p:nvSpPr>
        <p:spPr>
          <a:xfrm>
            <a:off x="549857" y="2159893"/>
            <a:ext cx="5468503" cy="4197846"/>
          </a:xfrm>
          <a:prstGeom prst="roundRect">
            <a:avLst>
              <a:gd name="adj" fmla="val 5319"/>
            </a:avLst>
          </a:prstGeom>
          <a:solidFill>
            <a:srgbClr val="C6C9DC"/>
          </a:solidFill>
          <a:ln/>
        </p:spPr>
      </p:sp>
      <p:sp>
        <p:nvSpPr>
          <p:cNvPr id="5" name="Text 3"/>
          <p:cNvSpPr/>
          <p:nvPr/>
        </p:nvSpPr>
        <p:spPr>
          <a:xfrm>
            <a:off x="704832" y="2305248"/>
            <a:ext cx="5158551" cy="242193"/>
          </a:xfrm>
          <a:prstGeom prst="rect">
            <a:avLst/>
          </a:prstGeom>
          <a:noFill/>
          <a:ln/>
        </p:spPr>
        <p:txBody>
          <a:bodyPr wrap="none" lIns="0" tIns="0" rIns="0" bIns="0" rtlCol="0" anchor="t"/>
          <a:lstStyle/>
          <a:p>
            <a:pPr algn="l" indent="0" marL="0">
              <a:lnSpc>
                <a:spcPct val="104000"/>
              </a:lnSpc>
              <a:buNone/>
            </a:pPr>
            <a:r>
              <a:rPr lang="en-US" sz="1500" dirty="0">
                <a:solidFill>
                  <a:srgbClr val="000000"/>
                </a:solidFill>
                <a:latin typeface="Montserrat Medium" pitchFamily="34" charset="0"/>
                <a:ea typeface="Montserrat Medium" pitchFamily="34" charset="-122"/>
                <a:cs typeface="Montserrat Medium" pitchFamily="34" charset="-120"/>
              </a:rPr>
              <a:t>Product &amp; Pricing Columns</a:t>
            </a:r>
            <a:endParaRPr lang="en-US" sz="1500" dirty="0"/>
          </a:p>
        </p:txBody>
      </p:sp>
      <p:sp>
        <p:nvSpPr>
          <p:cNvPr id="6" name="Text 4"/>
          <p:cNvSpPr/>
          <p:nvPr/>
        </p:nvSpPr>
        <p:spPr>
          <a:xfrm>
            <a:off x="704832" y="2692797"/>
            <a:ext cx="5158551" cy="2569170"/>
          </a:xfrm>
          <a:prstGeom prst="rect">
            <a:avLst/>
          </a:prstGeom>
          <a:noFill/>
          <a:ln/>
        </p:spPr>
        <p:txBody>
          <a:bodyPr wrap="square" lIns="0" tIns="0" rIns="0" bIns="0" rtlCol="0" anchor="t">
            <a:normAutofit/>
          </a:bodyPr>
          <a:lstStyle/>
          <a:p>
            <a:pPr algn="l" marL="243840" indent="-243840">
              <a:lnSpc>
                <a:spcPct val="129000"/>
              </a:lnSpc>
              <a:buSzPct val="100000"/>
              <a:buChar char="•"/>
            </a:pPr>
            <a:r>
              <a:rPr lang="en-US" sz="1200" b="1" dirty="0">
                <a:solidFill>
                  <a:srgbClr val="3D3E44"/>
                </a:solidFill>
                <a:latin typeface="Inter Bold" pitchFamily="34" charset="0"/>
                <a:ea typeface="Inter Bold" pitchFamily="34" charset="-122"/>
                <a:cs typeface="Inter Bold" pitchFamily="34" charset="-120"/>
              </a:rPr>
              <a:t>product_id</a:t>
            </a:r>
            <a:pPr algn="l" marL="243840" indent="-243840">
              <a:lnSpc>
                <a:spcPct val="129000"/>
              </a:lnSpc>
              <a:buSzPct val="100000"/>
              <a:buChar char="•"/>
            </a:pPr>
            <a:r>
              <a:rPr lang="en-US" sz="1200" dirty="0">
                <a:solidFill>
                  <a:srgbClr val="3D3E44"/>
                </a:solidFill>
                <a:latin typeface="Inter Light" pitchFamily="34" charset="0"/>
                <a:ea typeface="Inter Light" pitchFamily="34" charset="-122"/>
                <a:cs typeface="Inter Light" pitchFamily="34" charset="-120"/>
              </a:rPr>
              <a:t> — Unique ID for each product</a:t>
            </a:r>
            <a:endParaRPr lang="en-US" sz="1200" dirty="0"/>
          </a:p>
          <a:p>
            <a:pPr algn="l" marL="243840" indent="-243840">
              <a:lnSpc>
                <a:spcPct val="129000"/>
              </a:lnSpc>
              <a:buSzPct val="100000"/>
              <a:buChar char="•"/>
            </a:pPr>
            <a:r>
              <a:rPr lang="en-US" sz="1200" b="1" dirty="0">
                <a:solidFill>
                  <a:srgbClr val="3D3E44"/>
                </a:solidFill>
                <a:latin typeface="Inter Bold" pitchFamily="34" charset="0"/>
                <a:ea typeface="Inter Bold" pitchFamily="34" charset="-122"/>
                <a:cs typeface="Inter Bold" pitchFamily="34" charset="-120"/>
              </a:rPr>
              <a:t>product_name</a:t>
            </a:r>
            <a:pPr algn="l" marL="243840" indent="-243840">
              <a:lnSpc>
                <a:spcPct val="129000"/>
              </a:lnSpc>
              <a:buSzPct val="100000"/>
              <a:buChar char="•"/>
            </a:pPr>
            <a:r>
              <a:rPr lang="en-US" sz="1200" dirty="0">
                <a:solidFill>
                  <a:srgbClr val="3D3E44"/>
                </a:solidFill>
                <a:latin typeface="Inter Light" pitchFamily="34" charset="0"/>
                <a:ea typeface="Inter Light" pitchFamily="34" charset="-122"/>
                <a:cs typeface="Inter Light" pitchFamily="34" charset="-120"/>
              </a:rPr>
              <a:t> — Name/title of the Amazon product</a:t>
            </a:r>
            <a:endParaRPr lang="en-US" sz="1200" dirty="0"/>
          </a:p>
          <a:p>
            <a:pPr algn="l" marL="243840" indent="-243840">
              <a:lnSpc>
                <a:spcPct val="129000"/>
              </a:lnSpc>
              <a:buSzPct val="100000"/>
              <a:buChar char="•"/>
            </a:pPr>
            <a:r>
              <a:rPr lang="en-US" sz="1200" b="1" dirty="0">
                <a:solidFill>
                  <a:srgbClr val="3D3E44"/>
                </a:solidFill>
                <a:latin typeface="Inter Bold" pitchFamily="34" charset="0"/>
                <a:ea typeface="Inter Bold" pitchFamily="34" charset="-122"/>
                <a:cs typeface="Inter Bold" pitchFamily="34" charset="-120"/>
              </a:rPr>
              <a:t>category</a:t>
            </a:r>
            <a:pPr algn="l" marL="243840" indent="-243840">
              <a:lnSpc>
                <a:spcPct val="129000"/>
              </a:lnSpc>
              <a:buSzPct val="100000"/>
              <a:buChar char="•"/>
            </a:pPr>
            <a:r>
              <a:rPr lang="en-US" sz="1200" dirty="0">
                <a:solidFill>
                  <a:srgbClr val="3D3E44"/>
                </a:solidFill>
                <a:latin typeface="Inter Light" pitchFamily="34" charset="0"/>
                <a:ea typeface="Inter Light" pitchFamily="34" charset="-122"/>
                <a:cs typeface="Inter Light" pitchFamily="34" charset="-120"/>
              </a:rPr>
              <a:t> — Main product category</a:t>
            </a:r>
            <a:endParaRPr lang="en-US" sz="1200" dirty="0"/>
          </a:p>
          <a:p>
            <a:pPr algn="l" marL="243840" indent="-243840">
              <a:lnSpc>
                <a:spcPct val="129000"/>
              </a:lnSpc>
              <a:buSzPct val="100000"/>
              <a:buChar char="•"/>
            </a:pPr>
            <a:r>
              <a:rPr lang="en-US" sz="1200" b="1" dirty="0">
                <a:solidFill>
                  <a:srgbClr val="3D3E44"/>
                </a:solidFill>
                <a:latin typeface="Inter Bold" pitchFamily="34" charset="0"/>
                <a:ea typeface="Inter Bold" pitchFamily="34" charset="-122"/>
                <a:cs typeface="Inter Bold" pitchFamily="34" charset="-120"/>
              </a:rPr>
              <a:t>sub_category</a:t>
            </a:r>
            <a:pPr algn="l" marL="243840" indent="-243840">
              <a:lnSpc>
                <a:spcPct val="129000"/>
              </a:lnSpc>
              <a:buSzPct val="100000"/>
              <a:buChar char="•"/>
            </a:pPr>
            <a:r>
              <a:rPr lang="en-US" sz="1200" dirty="0">
                <a:solidFill>
                  <a:srgbClr val="3D3E44"/>
                </a:solidFill>
                <a:latin typeface="Inter Light" pitchFamily="34" charset="0"/>
                <a:ea typeface="Inter Light" pitchFamily="34" charset="-122"/>
                <a:cs typeface="Inter Light" pitchFamily="34" charset="-120"/>
              </a:rPr>
              <a:t> — More specific product type</a:t>
            </a:r>
            <a:endParaRPr lang="en-US" sz="1200" dirty="0"/>
          </a:p>
          <a:p>
            <a:pPr algn="l" marL="243840" indent="-243840">
              <a:lnSpc>
                <a:spcPct val="129000"/>
              </a:lnSpc>
              <a:buSzPct val="100000"/>
              <a:buChar char="•"/>
            </a:pPr>
            <a:r>
              <a:rPr lang="en-US" sz="1200" b="1" dirty="0">
                <a:solidFill>
                  <a:srgbClr val="3D3E44"/>
                </a:solidFill>
                <a:latin typeface="Inter Bold" pitchFamily="34" charset="0"/>
                <a:ea typeface="Inter Bold" pitchFamily="34" charset="-122"/>
                <a:cs typeface="Inter Bold" pitchFamily="34" charset="-120"/>
              </a:rPr>
              <a:t>actual_price</a:t>
            </a:r>
            <a:pPr algn="l" marL="243840" indent="-243840">
              <a:lnSpc>
                <a:spcPct val="129000"/>
              </a:lnSpc>
              <a:buSzPct val="100000"/>
              <a:buChar char="•"/>
            </a:pPr>
            <a:r>
              <a:rPr lang="en-US" sz="1200" dirty="0">
                <a:solidFill>
                  <a:srgbClr val="3D3E44"/>
                </a:solidFill>
                <a:latin typeface="Inter Light" pitchFamily="34" charset="0"/>
                <a:ea typeface="Inter Light" pitchFamily="34" charset="-122"/>
                <a:cs typeface="Inter Light" pitchFamily="34" charset="-120"/>
              </a:rPr>
              <a:t> — Original/list price</a:t>
            </a:r>
            <a:endParaRPr lang="en-US" sz="1200" dirty="0"/>
          </a:p>
          <a:p>
            <a:pPr algn="l" marL="243840" indent="-243840">
              <a:lnSpc>
                <a:spcPct val="129000"/>
              </a:lnSpc>
              <a:buSzPct val="100000"/>
              <a:buChar char="•"/>
            </a:pPr>
            <a:r>
              <a:rPr lang="en-US" sz="1200" b="1" dirty="0">
                <a:solidFill>
                  <a:srgbClr val="3D3E44"/>
                </a:solidFill>
                <a:latin typeface="Inter Bold" pitchFamily="34" charset="0"/>
                <a:ea typeface="Inter Bold" pitchFamily="34" charset="-122"/>
                <a:cs typeface="Inter Bold" pitchFamily="34" charset="-120"/>
              </a:rPr>
              <a:t>discounted_price</a:t>
            </a:r>
            <a:pPr algn="l" marL="243840" indent="-243840">
              <a:lnSpc>
                <a:spcPct val="129000"/>
              </a:lnSpc>
              <a:buSzPct val="100000"/>
              <a:buChar char="•"/>
            </a:pPr>
            <a:r>
              <a:rPr lang="en-US" sz="1200" dirty="0">
                <a:solidFill>
                  <a:srgbClr val="3D3E44"/>
                </a:solidFill>
                <a:latin typeface="Inter Light" pitchFamily="34" charset="0"/>
                <a:ea typeface="Inter Light" pitchFamily="34" charset="-122"/>
                <a:cs typeface="Inter Light" pitchFamily="34" charset="-120"/>
              </a:rPr>
              <a:t> — Price after discount</a:t>
            </a:r>
            <a:endParaRPr lang="en-US" sz="1200" dirty="0"/>
          </a:p>
          <a:p>
            <a:pPr algn="l" marL="243840" indent="-243840">
              <a:lnSpc>
                <a:spcPct val="129000"/>
              </a:lnSpc>
              <a:buSzPct val="100000"/>
              <a:buChar char="•"/>
            </a:pPr>
            <a:r>
              <a:rPr lang="en-US" sz="1200" b="1" dirty="0">
                <a:solidFill>
                  <a:srgbClr val="3D3E44"/>
                </a:solidFill>
                <a:latin typeface="Inter Bold" pitchFamily="34" charset="0"/>
                <a:ea typeface="Inter Bold" pitchFamily="34" charset="-122"/>
                <a:cs typeface="Inter Bold" pitchFamily="34" charset="-120"/>
              </a:rPr>
              <a:t>discount_percentage</a:t>
            </a:r>
            <a:pPr algn="l" marL="243840" indent="-243840">
              <a:lnSpc>
                <a:spcPct val="129000"/>
              </a:lnSpc>
              <a:buSzPct val="100000"/>
              <a:buChar char="•"/>
            </a:pPr>
            <a:r>
              <a:rPr lang="en-US" sz="1200" dirty="0">
                <a:solidFill>
                  <a:srgbClr val="3D3E44"/>
                </a:solidFill>
                <a:latin typeface="Inter Light" pitchFamily="34" charset="0"/>
                <a:ea typeface="Inter Light" pitchFamily="34" charset="-122"/>
                <a:cs typeface="Inter Light" pitchFamily="34" charset="-120"/>
              </a:rPr>
              <a:t> — Percentage discount</a:t>
            </a:r>
            <a:endParaRPr lang="en-US" sz="1200" dirty="0"/>
          </a:p>
          <a:p>
            <a:pPr algn="l" marL="243840" indent="-243840">
              <a:lnSpc>
                <a:spcPct val="129000"/>
              </a:lnSpc>
              <a:buSzPct val="100000"/>
              <a:buChar char="•"/>
            </a:pPr>
            <a:r>
              <a:rPr lang="en-US" sz="1200" b="1" dirty="0">
                <a:solidFill>
                  <a:srgbClr val="3D3E44"/>
                </a:solidFill>
                <a:latin typeface="Inter Bold" pitchFamily="34" charset="0"/>
                <a:ea typeface="Inter Bold" pitchFamily="34" charset="-122"/>
                <a:cs typeface="Inter Bold" pitchFamily="34" charset="-120"/>
              </a:rPr>
              <a:t>img_link</a:t>
            </a:r>
            <a:pPr algn="l" marL="243840" indent="-243840">
              <a:lnSpc>
                <a:spcPct val="129000"/>
              </a:lnSpc>
              <a:buSzPct val="100000"/>
              <a:buChar char="•"/>
            </a:pPr>
            <a:r>
              <a:rPr lang="en-US" sz="1200" dirty="0">
                <a:solidFill>
                  <a:srgbClr val="3D3E44"/>
                </a:solidFill>
                <a:latin typeface="Inter Light" pitchFamily="34" charset="0"/>
                <a:ea typeface="Inter Light" pitchFamily="34" charset="-122"/>
                <a:cs typeface="Inter Light" pitchFamily="34" charset="-120"/>
              </a:rPr>
              <a:t> — Product image link</a:t>
            </a:r>
            <a:endParaRPr lang="en-US" sz="1200" dirty="0"/>
          </a:p>
          <a:p>
            <a:pPr algn="l" marL="243840" indent="-243840">
              <a:lnSpc>
                <a:spcPct val="129000"/>
              </a:lnSpc>
              <a:buSzPct val="100000"/>
              <a:buChar char="•"/>
            </a:pPr>
            <a:r>
              <a:rPr lang="en-US" sz="1200" b="1" dirty="0">
                <a:solidFill>
                  <a:srgbClr val="3D3E44"/>
                </a:solidFill>
                <a:latin typeface="Inter Bold" pitchFamily="34" charset="0"/>
                <a:ea typeface="Inter Bold" pitchFamily="34" charset="-122"/>
                <a:cs typeface="Inter Bold" pitchFamily="34" charset="-120"/>
              </a:rPr>
              <a:t>product_link</a:t>
            </a:r>
            <a:pPr algn="l" marL="243840" indent="-243840">
              <a:lnSpc>
                <a:spcPct val="129000"/>
              </a:lnSpc>
              <a:buSzPct val="100000"/>
              <a:buChar char="•"/>
            </a:pPr>
            <a:r>
              <a:rPr lang="en-US" sz="1200" dirty="0">
                <a:solidFill>
                  <a:srgbClr val="3D3E44"/>
                </a:solidFill>
                <a:latin typeface="Inter Light" pitchFamily="34" charset="0"/>
                <a:ea typeface="Inter Light" pitchFamily="34" charset="-122"/>
                <a:cs typeface="Inter Light" pitchFamily="34" charset="-120"/>
              </a:rPr>
              <a:t> — Amazon product page</a:t>
            </a:r>
            <a:endParaRPr lang="en-US" sz="1200" dirty="0"/>
          </a:p>
        </p:txBody>
      </p:sp>
      <p:sp>
        <p:nvSpPr>
          <p:cNvPr id="7" name="Text 5"/>
          <p:cNvSpPr/>
          <p:nvPr/>
        </p:nvSpPr>
        <p:spPr>
          <a:xfrm>
            <a:off x="6291304" y="2305248"/>
            <a:ext cx="5245266" cy="242193"/>
          </a:xfrm>
          <a:prstGeom prst="rect">
            <a:avLst/>
          </a:prstGeom>
          <a:noFill/>
          <a:ln/>
        </p:spPr>
        <p:txBody>
          <a:bodyPr wrap="none" lIns="0" tIns="0" rIns="0" bIns="0" rtlCol="0" anchor="t"/>
          <a:lstStyle/>
          <a:p>
            <a:pPr algn="l" indent="0" marL="0">
              <a:lnSpc>
                <a:spcPct val="104000"/>
              </a:lnSpc>
              <a:buNone/>
            </a:pPr>
            <a:r>
              <a:rPr lang="en-US" sz="1500" dirty="0">
                <a:solidFill>
                  <a:srgbClr val="74767D"/>
                </a:solidFill>
                <a:latin typeface="Montserrat Medium" pitchFamily="34" charset="0"/>
                <a:ea typeface="Montserrat Medium" pitchFamily="34" charset="-122"/>
                <a:cs typeface="Montserrat Medium" pitchFamily="34" charset="-120"/>
              </a:rPr>
              <a:t>Rating &amp; Review Columns</a:t>
            </a:r>
            <a:endParaRPr lang="en-US" sz="1500" dirty="0"/>
          </a:p>
        </p:txBody>
      </p:sp>
      <p:sp>
        <p:nvSpPr>
          <p:cNvPr id="8" name="Text 6"/>
          <p:cNvSpPr/>
          <p:nvPr/>
        </p:nvSpPr>
        <p:spPr>
          <a:xfrm>
            <a:off x="6291304" y="2692797"/>
            <a:ext cx="5245266" cy="2278063"/>
          </a:xfrm>
          <a:prstGeom prst="rect">
            <a:avLst/>
          </a:prstGeom>
          <a:noFill/>
          <a:ln/>
        </p:spPr>
        <p:txBody>
          <a:bodyPr wrap="square" lIns="0" tIns="0" rIns="0" bIns="0" rtlCol="0" anchor="t">
            <a:normAutofit/>
          </a:bodyPr>
          <a:lstStyle/>
          <a:p>
            <a:pPr algn="l" marL="243840" indent="-243840">
              <a:lnSpc>
                <a:spcPct val="129000"/>
              </a:lnSpc>
              <a:buSzPct val="100000"/>
              <a:buChar char="•"/>
            </a:pPr>
            <a:r>
              <a:rPr lang="en-US" sz="1200" b="1" dirty="0">
                <a:solidFill>
                  <a:srgbClr val="3D3E44"/>
                </a:solidFill>
                <a:latin typeface="Inter Bold" pitchFamily="34" charset="0"/>
                <a:ea typeface="Inter Bold" pitchFamily="34" charset="-122"/>
                <a:cs typeface="Inter Bold" pitchFamily="34" charset="-120"/>
              </a:rPr>
              <a:t>rating</a:t>
            </a:r>
            <a:pPr algn="l" marL="243840" indent="-243840">
              <a:lnSpc>
                <a:spcPct val="129000"/>
              </a:lnSpc>
              <a:buSzPct val="100000"/>
              <a:buChar char="•"/>
            </a:pPr>
            <a:r>
              <a:rPr lang="en-US" sz="1200" dirty="0">
                <a:solidFill>
                  <a:srgbClr val="3D3E44"/>
                </a:solidFill>
                <a:latin typeface="Inter Light" pitchFamily="34" charset="0"/>
                <a:ea typeface="Inter Light" pitchFamily="34" charset="-122"/>
                <a:cs typeface="Inter Light" pitchFamily="34" charset="-120"/>
              </a:rPr>
              <a:t> — Customer rating, usually out of 5</a:t>
            </a:r>
            <a:endParaRPr lang="en-US" sz="1200" dirty="0"/>
          </a:p>
          <a:p>
            <a:pPr algn="l" marL="243840" indent="-243840">
              <a:lnSpc>
                <a:spcPct val="129000"/>
              </a:lnSpc>
              <a:buSzPct val="100000"/>
              <a:buChar char="•"/>
            </a:pPr>
            <a:r>
              <a:rPr lang="en-US" sz="1200" b="1" dirty="0">
                <a:solidFill>
                  <a:srgbClr val="3D3E44"/>
                </a:solidFill>
                <a:latin typeface="Inter Bold" pitchFamily="34" charset="0"/>
                <a:ea typeface="Inter Bold" pitchFamily="34" charset="-122"/>
                <a:cs typeface="Inter Bold" pitchFamily="34" charset="-120"/>
              </a:rPr>
              <a:t>rating_count</a:t>
            </a:r>
            <a:pPr algn="l" marL="243840" indent="-243840">
              <a:lnSpc>
                <a:spcPct val="129000"/>
              </a:lnSpc>
              <a:buSzPct val="100000"/>
              <a:buChar char="•"/>
            </a:pPr>
            <a:r>
              <a:rPr lang="en-US" sz="1200" dirty="0">
                <a:solidFill>
                  <a:srgbClr val="3D3E44"/>
                </a:solidFill>
                <a:latin typeface="Inter Light" pitchFamily="34" charset="0"/>
                <a:ea typeface="Inter Light" pitchFamily="34" charset="-122"/>
                <a:cs typeface="Inter Light" pitchFamily="34" charset="-120"/>
              </a:rPr>
              <a:t> — Number of customer ratings/reviews</a:t>
            </a:r>
            <a:endParaRPr lang="en-US" sz="1200" dirty="0"/>
          </a:p>
          <a:p>
            <a:pPr algn="l" marL="243840" indent="-243840">
              <a:lnSpc>
                <a:spcPct val="129000"/>
              </a:lnSpc>
              <a:buSzPct val="100000"/>
              <a:buChar char="•"/>
            </a:pPr>
            <a:r>
              <a:rPr lang="en-US" sz="1200" b="1" dirty="0">
                <a:solidFill>
                  <a:srgbClr val="3D3E44"/>
                </a:solidFill>
                <a:latin typeface="Inter Bold" pitchFamily="34" charset="0"/>
                <a:ea typeface="Inter Bold" pitchFamily="34" charset="-122"/>
                <a:cs typeface="Inter Bold" pitchFamily="34" charset="-120"/>
              </a:rPr>
              <a:t>about_product</a:t>
            </a:r>
            <a:pPr algn="l" marL="243840" indent="-243840">
              <a:lnSpc>
                <a:spcPct val="129000"/>
              </a:lnSpc>
              <a:buSzPct val="100000"/>
              <a:buChar char="•"/>
            </a:pPr>
            <a:r>
              <a:rPr lang="en-US" sz="1200" dirty="0">
                <a:solidFill>
                  <a:srgbClr val="3D3E44"/>
                </a:solidFill>
                <a:latin typeface="Inter Light" pitchFamily="34" charset="0"/>
                <a:ea typeface="Inter Light" pitchFamily="34" charset="-122"/>
                <a:cs typeface="Inter Light" pitchFamily="34" charset="-120"/>
              </a:rPr>
              <a:t> — Description/features of the product</a:t>
            </a:r>
            <a:endParaRPr lang="en-US" sz="1200" dirty="0"/>
          </a:p>
          <a:p>
            <a:pPr algn="l" marL="243840" indent="-243840">
              <a:lnSpc>
                <a:spcPct val="129000"/>
              </a:lnSpc>
              <a:buSzPct val="100000"/>
              <a:buChar char="•"/>
            </a:pPr>
            <a:r>
              <a:rPr lang="en-US" sz="1200" b="1" dirty="0">
                <a:solidFill>
                  <a:srgbClr val="3D3E44"/>
                </a:solidFill>
                <a:latin typeface="Inter Bold" pitchFamily="34" charset="0"/>
                <a:ea typeface="Inter Bold" pitchFamily="34" charset="-122"/>
                <a:cs typeface="Inter Bold" pitchFamily="34" charset="-120"/>
              </a:rPr>
              <a:t>user_id</a:t>
            </a:r>
            <a:pPr algn="l" marL="243840" indent="-243840">
              <a:lnSpc>
                <a:spcPct val="129000"/>
              </a:lnSpc>
              <a:buSzPct val="100000"/>
              <a:buChar char="•"/>
            </a:pPr>
            <a:r>
              <a:rPr lang="en-US" sz="1200" dirty="0">
                <a:solidFill>
                  <a:srgbClr val="3D3E44"/>
                </a:solidFill>
                <a:latin typeface="Inter Light" pitchFamily="34" charset="0"/>
                <a:ea typeface="Inter Light" pitchFamily="34" charset="-122"/>
                <a:cs typeface="Inter Light" pitchFamily="34" charset="-120"/>
              </a:rPr>
              <a:t> — Identifier associated with reviewers</a:t>
            </a:r>
            <a:endParaRPr lang="en-US" sz="1200" dirty="0"/>
          </a:p>
          <a:p>
            <a:pPr algn="l" marL="243840" indent="-243840">
              <a:lnSpc>
                <a:spcPct val="129000"/>
              </a:lnSpc>
              <a:buSzPct val="100000"/>
              <a:buChar char="•"/>
            </a:pPr>
            <a:r>
              <a:rPr lang="en-US" sz="1200" b="1" dirty="0">
                <a:solidFill>
                  <a:srgbClr val="3D3E44"/>
                </a:solidFill>
                <a:latin typeface="Inter Bold" pitchFamily="34" charset="0"/>
                <a:ea typeface="Inter Bold" pitchFamily="34" charset="-122"/>
                <a:cs typeface="Inter Bold" pitchFamily="34" charset="-120"/>
              </a:rPr>
              <a:t>user_name</a:t>
            </a:r>
            <a:pPr algn="l" marL="243840" indent="-243840">
              <a:lnSpc>
                <a:spcPct val="129000"/>
              </a:lnSpc>
              <a:buSzPct val="100000"/>
              <a:buChar char="•"/>
            </a:pPr>
            <a:r>
              <a:rPr lang="en-US" sz="1200" dirty="0">
                <a:solidFill>
                  <a:srgbClr val="3D3E44"/>
                </a:solidFill>
                <a:latin typeface="Inter Light" pitchFamily="34" charset="0"/>
                <a:ea typeface="Inter Light" pitchFamily="34" charset="-122"/>
                <a:cs typeface="Inter Light" pitchFamily="34" charset="-120"/>
              </a:rPr>
              <a:t> — Reviewer name</a:t>
            </a:r>
            <a:endParaRPr lang="en-US" sz="1200" dirty="0"/>
          </a:p>
          <a:p>
            <a:pPr algn="l" marL="243840" indent="-243840">
              <a:lnSpc>
                <a:spcPct val="129000"/>
              </a:lnSpc>
              <a:buSzPct val="100000"/>
              <a:buChar char="•"/>
            </a:pPr>
            <a:r>
              <a:rPr lang="en-US" sz="1200" b="1" dirty="0">
                <a:solidFill>
                  <a:srgbClr val="3D3E44"/>
                </a:solidFill>
                <a:latin typeface="Inter Bold" pitchFamily="34" charset="0"/>
                <a:ea typeface="Inter Bold" pitchFamily="34" charset="-122"/>
                <a:cs typeface="Inter Bold" pitchFamily="34" charset="-120"/>
              </a:rPr>
              <a:t>review_id</a:t>
            </a:r>
            <a:pPr algn="l" marL="243840" indent="-243840">
              <a:lnSpc>
                <a:spcPct val="129000"/>
              </a:lnSpc>
              <a:buSzPct val="100000"/>
              <a:buChar char="•"/>
            </a:pPr>
            <a:r>
              <a:rPr lang="en-US" sz="1200" dirty="0">
                <a:solidFill>
                  <a:srgbClr val="3D3E44"/>
                </a:solidFill>
                <a:latin typeface="Inter Light" pitchFamily="34" charset="0"/>
                <a:ea typeface="Inter Light" pitchFamily="34" charset="-122"/>
                <a:cs typeface="Inter Light" pitchFamily="34" charset="-120"/>
              </a:rPr>
              <a:t> — Review identifier</a:t>
            </a:r>
            <a:endParaRPr lang="en-US" sz="1200" dirty="0"/>
          </a:p>
          <a:p>
            <a:pPr algn="l" marL="243840" indent="-243840">
              <a:lnSpc>
                <a:spcPct val="129000"/>
              </a:lnSpc>
              <a:buSzPct val="100000"/>
              <a:buChar char="•"/>
            </a:pPr>
            <a:r>
              <a:rPr lang="en-US" sz="1200" b="1" dirty="0">
                <a:solidFill>
                  <a:srgbClr val="3D3E44"/>
                </a:solidFill>
                <a:latin typeface="Inter Bold" pitchFamily="34" charset="0"/>
                <a:ea typeface="Inter Bold" pitchFamily="34" charset="-122"/>
                <a:cs typeface="Inter Bold" pitchFamily="34" charset="-120"/>
              </a:rPr>
              <a:t>review_title</a:t>
            </a:r>
            <a:pPr algn="l" marL="243840" indent="-243840">
              <a:lnSpc>
                <a:spcPct val="129000"/>
              </a:lnSpc>
              <a:buSzPct val="100000"/>
              <a:buChar char="•"/>
            </a:pPr>
            <a:r>
              <a:rPr lang="en-US" sz="1200" dirty="0">
                <a:solidFill>
                  <a:srgbClr val="3D3E44"/>
                </a:solidFill>
                <a:latin typeface="Inter Light" pitchFamily="34" charset="0"/>
                <a:ea typeface="Inter Light" pitchFamily="34" charset="-122"/>
                <a:cs typeface="Inter Light" pitchFamily="34" charset="-120"/>
              </a:rPr>
              <a:t> — Review headline</a:t>
            </a:r>
            <a:endParaRPr lang="en-US" sz="1200" dirty="0"/>
          </a:p>
          <a:p>
            <a:pPr algn="l" marL="243840" indent="-243840">
              <a:lnSpc>
                <a:spcPct val="129000"/>
              </a:lnSpc>
              <a:buSzPct val="100000"/>
              <a:buChar char="•"/>
            </a:pPr>
            <a:r>
              <a:rPr lang="en-US" sz="1200" b="1" dirty="0">
                <a:solidFill>
                  <a:srgbClr val="3D3E44"/>
                </a:solidFill>
                <a:latin typeface="Inter Bold" pitchFamily="34" charset="0"/>
                <a:ea typeface="Inter Bold" pitchFamily="34" charset="-122"/>
                <a:cs typeface="Inter Bold" pitchFamily="34" charset="-120"/>
              </a:rPr>
              <a:t>review_content</a:t>
            </a:r>
            <a:pPr algn="l" marL="243840" indent="-243840">
              <a:lnSpc>
                <a:spcPct val="129000"/>
              </a:lnSpc>
              <a:buSzPct val="100000"/>
              <a:buChar char="•"/>
            </a:pPr>
            <a:r>
              <a:rPr lang="en-US" sz="1200" dirty="0">
                <a:solidFill>
                  <a:srgbClr val="3D3E44"/>
                </a:solidFill>
                <a:latin typeface="Inter Light" pitchFamily="34" charset="0"/>
                <a:ea typeface="Inter Light" pitchFamily="34" charset="-122"/>
                <a:cs typeface="Inter Light" pitchFamily="34" charset="-120"/>
              </a:rPr>
              <a:t> — Written customer review</a:t>
            </a:r>
            <a:endParaRPr lang="en-US" sz="1200" dirty="0"/>
          </a:p>
        </p:txBody>
      </p:sp>
      <p:sp>
        <p:nvSpPr>
          <p:cNvPr id="9" name="Shape 7"/>
          <p:cNvSpPr/>
          <p:nvPr/>
        </p:nvSpPr>
        <p:spPr>
          <a:xfrm>
            <a:off x="6291304" y="5134372"/>
            <a:ext cx="5245266" cy="1059855"/>
          </a:xfrm>
          <a:prstGeom prst="roundRect">
            <a:avLst>
              <a:gd name="adj" fmla="val 13167"/>
            </a:avLst>
          </a:prstGeom>
          <a:solidFill>
            <a:srgbClr val="DFE1EC"/>
          </a:solidFill>
          <a:ln/>
        </p:spPr>
      </p:sp>
      <p:pic>
        <p:nvPicPr>
          <p:cNvPr id="10" name="Image 0" descr="preencoded.png">    </p:cNvPr>
          <p:cNvPicPr>
            <a:picLocks noChangeAspect="1"/>
          </p:cNvPicPr>
          <p:nvPr/>
        </p:nvPicPr>
        <p:blipFill>
          <a:blip r:embed="rId1"/>
          <a:stretch>
            <a:fillRect/>
          </a:stretch>
        </p:blipFill>
        <p:spPr>
          <a:xfrm>
            <a:off x="6446279" y="5354241"/>
            <a:ext cx="193769" cy="154980"/>
          </a:xfrm>
          <a:prstGeom prst="rect">
            <a:avLst/>
          </a:prstGeom>
        </p:spPr>
      </p:pic>
      <p:sp>
        <p:nvSpPr>
          <p:cNvPr id="11" name="Text 8"/>
          <p:cNvSpPr/>
          <p:nvPr/>
        </p:nvSpPr>
        <p:spPr>
          <a:xfrm>
            <a:off x="6795025" y="5303838"/>
            <a:ext cx="4586570" cy="720923"/>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000000"/>
                </a:solidFill>
                <a:latin typeface="Inter Light" pitchFamily="34" charset="0"/>
                <a:ea typeface="Inter Light" pitchFamily="34" charset="-122"/>
                <a:cs typeface="Inter Light" pitchFamily="34" charset="-120"/>
              </a:rPr>
              <a:t>No revenue, units sold, profit, or geographic region columns exist in this dataset. Conclusions should be framed as business implications and hypotheses, not proven financial outcomes.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454819"/>
            <a:ext cx="10868745" cy="258465"/>
          </a:xfrm>
          <a:prstGeom prst="rect">
            <a:avLst/>
          </a:prstGeom>
          <a:noFill/>
          <a:ln/>
        </p:spPr>
        <p:txBody>
          <a:bodyPr wrap="none" lIns="0" tIns="0" rIns="0" bIns="0" rtlCol="0" anchor="t"/>
          <a:lstStyle/>
          <a:p>
            <a:pPr algn="l" indent="0" marL="0">
              <a:lnSpc>
                <a:spcPct val="104000"/>
              </a:lnSpc>
              <a:buNone/>
            </a:pPr>
            <a:r>
              <a:rPr lang="en-US" sz="1600" dirty="0">
                <a:solidFill>
                  <a:srgbClr val="74767D"/>
                </a:solidFill>
                <a:latin typeface="Montserrat Medium" pitchFamily="34" charset="0"/>
                <a:ea typeface="Montserrat Medium" pitchFamily="34" charset="-122"/>
                <a:cs typeface="Montserrat Medium" pitchFamily="34" charset="-120"/>
              </a:rPr>
              <a:t>Top Trending Subcategories</a:t>
            </a:r>
            <a:endParaRPr lang="en-US" sz="1600" dirty="0"/>
          </a:p>
        </p:txBody>
      </p:sp>
      <p:sp>
        <p:nvSpPr>
          <p:cNvPr id="3" name="Text 1"/>
          <p:cNvSpPr/>
          <p:nvPr/>
        </p:nvSpPr>
        <p:spPr>
          <a:xfrm>
            <a:off x="661475" y="795933"/>
            <a:ext cx="10868745" cy="198239"/>
          </a:xfrm>
          <a:prstGeom prst="rect">
            <a:avLst/>
          </a:prstGeom>
          <a:noFill/>
          <a:ln/>
        </p:spPr>
        <p:txBody>
          <a:bodyPr wrap="square" lIns="0" tIns="0" rIns="0" bIns="0" rtlCol="0" anchor="t">
            <a:normAutofit/>
          </a:bodyPr>
          <a:lstStyle/>
          <a:p>
            <a:pPr algn="l" indent="0" marL="0">
              <a:lnSpc>
                <a:spcPct val="100000"/>
              </a:lnSpc>
              <a:buNone/>
            </a:pPr>
            <a:r>
              <a:rPr lang="en-US" sz="650" b="1" dirty="0">
                <a:solidFill>
                  <a:srgbClr val="3D3E44"/>
                </a:solidFill>
                <a:latin typeface="Inter Bold" pitchFamily="34" charset="0"/>
                <a:ea typeface="Inter Bold" pitchFamily="34" charset="-122"/>
                <a:cs typeface="Inter Bold" pitchFamily="34" charset="-120"/>
              </a:rPr>
              <a:t>USB Cables</a:t>
            </a:r>
            <a:pPr algn="l" indent="0" marL="0">
              <a:lnSpc>
                <a:spcPct val="100000"/>
              </a:lnSpc>
              <a:buNone/>
            </a:pPr>
            <a:r>
              <a:rPr lang="en-US" sz="650" dirty="0">
                <a:solidFill>
                  <a:srgbClr val="3D3E44"/>
                </a:solidFill>
                <a:latin typeface="Inter Light" pitchFamily="34" charset="0"/>
                <a:ea typeface="Inter Light" pitchFamily="34" charset="-122"/>
                <a:cs typeface="Inter Light" pitchFamily="34" charset="-120"/>
              </a:rPr>
              <a:t> dominate the subcategory landscape with 233 products — nearly three times more than the next-ranked subcategory. Smart Watches (76), Smartphones (68), and Smart Televisions (63) round out the top four. This concentration in connectivity and smart consumer electronics reflects strong market demand in these segments.</a:t>
            </a:r>
            <a:endParaRPr lang="en-US" sz="650" dirty="0"/>
          </a:p>
        </p:txBody>
      </p:sp>
      <p:pic>
        <p:nvPicPr>
          <p:cNvPr id="4" name="Image 0" descr="preencoded.png">    </p:cNvPr>
          <p:cNvPicPr>
            <a:picLocks noChangeAspect="1"/>
          </p:cNvPicPr>
          <p:nvPr/>
        </p:nvPicPr>
        <p:blipFill>
          <a:blip r:embed="rId1"/>
          <a:stretch>
            <a:fillRect/>
          </a:stretch>
        </p:blipFill>
        <p:spPr>
          <a:xfrm>
            <a:off x="661475" y="1040606"/>
            <a:ext cx="10868745" cy="6086574"/>
          </a:xfrm>
          <a:prstGeom prst="rect">
            <a:avLst/>
          </a:prstGeom>
        </p:spPr>
      </p:pic>
      <p:sp>
        <p:nvSpPr>
          <p:cNvPr id="5" name="Text 2"/>
          <p:cNvSpPr/>
          <p:nvPr/>
        </p:nvSpPr>
        <p:spPr>
          <a:xfrm>
            <a:off x="661475" y="7173615"/>
            <a:ext cx="11478330" cy="99120"/>
          </a:xfrm>
          <a:prstGeom prst="rect">
            <a:avLst/>
          </a:prstGeom>
          <a:noFill/>
          <a:ln/>
        </p:spPr>
        <p:txBody>
          <a:bodyPr wrap="none" lIns="0" tIns="0" rIns="0" bIns="0" rtlCol="0" anchor="t"/>
          <a:lstStyle/>
          <a:p>
            <a:pPr algn="l" indent="0" marL="0">
              <a:lnSpc>
                <a:spcPct val="100000"/>
              </a:lnSpc>
              <a:buNone/>
            </a:pPr>
            <a:r>
              <a:rPr lang="en-US" sz="650" dirty="0">
                <a:solidFill>
                  <a:srgbClr val="3D3E44"/>
                </a:solidFill>
                <a:latin typeface="Inter Light" pitchFamily="34" charset="0"/>
                <a:ea typeface="Inter Light" pitchFamily="34" charset="-122"/>
                <a:cs typeface="Inter Light" pitchFamily="34" charset="-120"/>
              </a:rPr>
              <a:t>USB cables have by far the largest product presence in the dataset. The sharp drop-off after the top four subcategories underscores the heavy concentration of listings in connectivity and smart electronics products.</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454819"/>
            <a:ext cx="10868745" cy="258465"/>
          </a:xfrm>
          <a:prstGeom prst="rect">
            <a:avLst/>
          </a:prstGeom>
          <a:noFill/>
          <a:ln/>
        </p:spPr>
        <p:txBody>
          <a:bodyPr wrap="none" lIns="0" tIns="0" rIns="0" bIns="0" rtlCol="0" anchor="t"/>
          <a:lstStyle/>
          <a:p>
            <a:pPr algn="l" indent="0" marL="0">
              <a:lnSpc>
                <a:spcPct val="104000"/>
              </a:lnSpc>
              <a:buNone/>
            </a:pPr>
            <a:r>
              <a:rPr lang="en-US" sz="1600" dirty="0">
                <a:solidFill>
                  <a:srgbClr val="74767D"/>
                </a:solidFill>
                <a:latin typeface="Montserrat Medium" pitchFamily="34" charset="0"/>
                <a:ea typeface="Montserrat Medium" pitchFamily="34" charset="-122"/>
                <a:cs typeface="Montserrat Medium" pitchFamily="34" charset="-120"/>
              </a:rPr>
              <a:t>Top Product Categories</a:t>
            </a:r>
            <a:endParaRPr lang="en-US" sz="1600" dirty="0"/>
          </a:p>
        </p:txBody>
      </p:sp>
      <p:sp>
        <p:nvSpPr>
          <p:cNvPr id="3" name="Text 1"/>
          <p:cNvSpPr/>
          <p:nvPr/>
        </p:nvSpPr>
        <p:spPr>
          <a:xfrm>
            <a:off x="661475" y="795933"/>
            <a:ext cx="10868745" cy="19823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3D3E44"/>
                </a:solidFill>
                <a:latin typeface="Inter Light" pitchFamily="34" charset="0"/>
                <a:ea typeface="Inter Light" pitchFamily="34" charset="-122"/>
                <a:cs typeface="Inter Light" pitchFamily="34" charset="-120"/>
              </a:rPr>
              <a:t>Three categories dominate the dataset, together representing almost the entire product catalog. </a:t>
            </a:r>
            <a:pPr algn="l" indent="0" marL="0">
              <a:lnSpc>
                <a:spcPct val="100000"/>
              </a:lnSpc>
              <a:buNone/>
            </a:pPr>
            <a:r>
              <a:rPr lang="en-US" sz="650" b="1" dirty="0">
                <a:solidFill>
                  <a:srgbClr val="3D3E44"/>
                </a:solidFill>
                <a:latin typeface="Inter Bold" pitchFamily="34" charset="0"/>
                <a:ea typeface="Inter Bold" pitchFamily="34" charset="-122"/>
                <a:cs typeface="Inter Bold" pitchFamily="34" charset="-120"/>
              </a:rPr>
              <a:t>Electronics</a:t>
            </a:r>
            <a:pPr algn="l" indent="0" marL="0">
              <a:lnSpc>
                <a:spcPct val="100000"/>
              </a:lnSpc>
              <a:buNone/>
            </a:pPr>
            <a:r>
              <a:rPr lang="en-US" sz="650" dirty="0">
                <a:solidFill>
                  <a:srgbClr val="3D3E44"/>
                </a:solidFill>
                <a:latin typeface="Inter Light" pitchFamily="34" charset="0"/>
                <a:ea typeface="Inter Light" pitchFamily="34" charset="-122"/>
                <a:cs typeface="Inter Light" pitchFamily="34" charset="-120"/>
              </a:rPr>
              <a:t> leads with 526 products, followed closely by </a:t>
            </a:r>
            <a:pPr algn="l" indent="0" marL="0">
              <a:lnSpc>
                <a:spcPct val="100000"/>
              </a:lnSpc>
              <a:buNone/>
            </a:pPr>
            <a:r>
              <a:rPr lang="en-US" sz="650" b="1" dirty="0">
                <a:solidFill>
                  <a:srgbClr val="3D3E44"/>
                </a:solidFill>
                <a:latin typeface="Inter Bold" pitchFamily="34" charset="0"/>
                <a:ea typeface="Inter Bold" pitchFamily="34" charset="-122"/>
                <a:cs typeface="Inter Bold" pitchFamily="34" charset="-120"/>
              </a:rPr>
              <a:t>Computers &amp; Accessories</a:t>
            </a:r>
            <a:pPr algn="l" indent="0" marL="0">
              <a:lnSpc>
                <a:spcPct val="100000"/>
              </a:lnSpc>
              <a:buNone/>
            </a:pPr>
            <a:r>
              <a:rPr lang="en-US" sz="650" dirty="0">
                <a:solidFill>
                  <a:srgbClr val="3D3E44"/>
                </a:solidFill>
                <a:latin typeface="Inter Light" pitchFamily="34" charset="0"/>
                <a:ea typeface="Inter Light" pitchFamily="34" charset="-122"/>
                <a:cs typeface="Inter Light" pitchFamily="34" charset="-120"/>
              </a:rPr>
              <a:t> (453) and </a:t>
            </a:r>
            <a:pPr algn="l" indent="0" marL="0">
              <a:lnSpc>
                <a:spcPct val="100000"/>
              </a:lnSpc>
              <a:buNone/>
            </a:pPr>
            <a:r>
              <a:rPr lang="en-US" sz="650" b="1" dirty="0">
                <a:solidFill>
                  <a:srgbClr val="3D3E44"/>
                </a:solidFill>
                <a:latin typeface="Inter Bold" pitchFamily="34" charset="0"/>
                <a:ea typeface="Inter Bold" pitchFamily="34" charset="-122"/>
                <a:cs typeface="Inter Bold" pitchFamily="34" charset="-120"/>
              </a:rPr>
              <a:t>Home &amp; Kitchen</a:t>
            </a:r>
            <a:pPr algn="l" indent="0" marL="0">
              <a:lnSpc>
                <a:spcPct val="100000"/>
              </a:lnSpc>
              <a:buNone/>
            </a:pPr>
            <a:r>
              <a:rPr lang="en-US" sz="650" dirty="0">
                <a:solidFill>
                  <a:srgbClr val="3D3E44"/>
                </a:solidFill>
                <a:latin typeface="Inter Light" pitchFamily="34" charset="0"/>
                <a:ea typeface="Inter Light" pitchFamily="34" charset="-122"/>
                <a:cs typeface="Inter Light" pitchFamily="34" charset="-120"/>
              </a:rPr>
              <a:t> (448). This concentration reveals both a strength in these segments and a potential risk of overdependence on a small number of product groups.</a:t>
            </a:r>
            <a:endParaRPr lang="en-US" sz="650" dirty="0"/>
          </a:p>
        </p:txBody>
      </p:sp>
      <p:pic>
        <p:nvPicPr>
          <p:cNvPr id="4" name="Image 0" descr="preencoded.png">    </p:cNvPr>
          <p:cNvPicPr>
            <a:picLocks noChangeAspect="1"/>
          </p:cNvPicPr>
          <p:nvPr/>
        </p:nvPicPr>
        <p:blipFill>
          <a:blip r:embed="rId1"/>
          <a:stretch>
            <a:fillRect/>
          </a:stretch>
        </p:blipFill>
        <p:spPr>
          <a:xfrm>
            <a:off x="661475" y="1040606"/>
            <a:ext cx="10868745" cy="6086574"/>
          </a:xfrm>
          <a:prstGeom prst="rect">
            <a:avLst/>
          </a:prstGeom>
        </p:spPr>
      </p:pic>
      <p:sp>
        <p:nvSpPr>
          <p:cNvPr id="5" name="Text 2"/>
          <p:cNvSpPr/>
          <p:nvPr/>
        </p:nvSpPr>
        <p:spPr>
          <a:xfrm>
            <a:off x="661475" y="7173615"/>
            <a:ext cx="11478330" cy="99120"/>
          </a:xfrm>
          <a:prstGeom prst="rect">
            <a:avLst/>
          </a:prstGeom>
          <a:noFill/>
          <a:ln/>
        </p:spPr>
        <p:txBody>
          <a:bodyPr wrap="none" lIns="0" tIns="0" rIns="0" bIns="0" rtlCol="0" anchor="t"/>
          <a:lstStyle/>
          <a:p>
            <a:pPr algn="l" indent="0" marL="0">
              <a:lnSpc>
                <a:spcPct val="100000"/>
              </a:lnSpc>
              <a:buNone/>
            </a:pPr>
            <a:r>
              <a:rPr lang="en-US" sz="650" dirty="0">
                <a:solidFill>
                  <a:srgbClr val="3D3E44"/>
                </a:solidFill>
                <a:latin typeface="Inter Light" pitchFamily="34" charset="0"/>
                <a:ea typeface="Inter Light" pitchFamily="34" charset="-122"/>
                <a:cs typeface="Inter Light" pitchFamily="34" charset="-120"/>
              </a:rPr>
              <a:t>Electronics, Computers &amp; Accessories, and Home &amp; Kitchen account for the vast majority of the 1,465 products in the dataset. All other categories combined represent a small fraction of total listings, highlighting significant category concentration.</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35880"/>
            <a:ext cx="10868745" cy="500658"/>
          </a:xfrm>
          <a:prstGeom prst="rect">
            <a:avLst/>
          </a:prstGeom>
          <a:noFill/>
          <a:ln/>
        </p:spPr>
        <p:txBody>
          <a:bodyPr wrap="none" lIns="0" tIns="0" rIns="0" bIns="0" rtlCol="0" anchor="t"/>
          <a:lstStyle/>
          <a:p>
            <a:pPr algn="l" indent="0" marL="0">
              <a:lnSpc>
                <a:spcPct val="104000"/>
              </a:lnSpc>
              <a:buNone/>
            </a:pPr>
            <a:r>
              <a:rPr lang="en-US" sz="3150" dirty="0">
                <a:solidFill>
                  <a:srgbClr val="74767D"/>
                </a:solidFill>
                <a:latin typeface="Montserrat Medium" pitchFamily="34" charset="0"/>
                <a:ea typeface="Montserrat Medium" pitchFamily="34" charset="-122"/>
                <a:cs typeface="Montserrat Medium" pitchFamily="34" charset="-120"/>
              </a:rPr>
              <a:t>Key Business Metrics at a Glance</a:t>
            </a:r>
            <a:endParaRPr lang="en-US" sz="3150" dirty="0"/>
          </a:p>
        </p:txBody>
      </p:sp>
      <p:sp>
        <p:nvSpPr>
          <p:cNvPr id="3" name="Text 1"/>
          <p:cNvSpPr/>
          <p:nvPr/>
        </p:nvSpPr>
        <p:spPr>
          <a:xfrm>
            <a:off x="661475" y="1346895"/>
            <a:ext cx="10868745" cy="504627"/>
          </a:xfrm>
          <a:prstGeom prst="rect">
            <a:avLst/>
          </a:prstGeom>
          <a:noFill/>
          <a:ln/>
        </p:spPr>
        <p:txBody>
          <a:bodyPr wrap="square" lIns="0" tIns="0" rIns="0" bIns="0" rtlCol="0" anchor="t">
            <a:normAutofit/>
          </a:bodyPr>
          <a:lstStyle/>
          <a:p>
            <a:pPr algn="l" indent="0" marL="0">
              <a:lnSpc>
                <a:spcPct val="131000"/>
              </a:lnSpc>
              <a:buNone/>
            </a:pPr>
            <a:r>
              <a:rPr lang="en-US" sz="1250" dirty="0">
                <a:solidFill>
                  <a:srgbClr val="3D3E44"/>
                </a:solidFill>
                <a:latin typeface="Inter Light" pitchFamily="34" charset="0"/>
                <a:ea typeface="Inter Light" pitchFamily="34" charset="-122"/>
                <a:cs typeface="Inter Light" pitchFamily="34" charset="-120"/>
              </a:rPr>
              <a:t>The dataset reveals a marketplace characterized by </a:t>
            </a:r>
            <a:pPr algn="l" indent="0" marL="0">
              <a:lnSpc>
                <a:spcPct val="131000"/>
              </a:lnSpc>
              <a:buNone/>
            </a:pPr>
            <a:r>
              <a:rPr lang="en-US" sz="1250" b="1" dirty="0">
                <a:solidFill>
                  <a:srgbClr val="3D3E44"/>
                </a:solidFill>
                <a:latin typeface="Inter Bold" pitchFamily="34" charset="0"/>
                <a:ea typeface="Inter Bold" pitchFamily="34" charset="-122"/>
                <a:cs typeface="Inter Bold" pitchFamily="34" charset="-120"/>
              </a:rPr>
              <a:t>aggressive promotional pricing</a:t>
            </a:r>
            <a:pPr algn="l" indent="0" marL="0">
              <a:lnSpc>
                <a:spcPct val="131000"/>
              </a:lnSpc>
              <a:buNone/>
            </a:pPr>
            <a:r>
              <a:rPr lang="en-US" sz="1250" dirty="0">
                <a:solidFill>
                  <a:srgbClr val="3D3E44"/>
                </a:solidFill>
                <a:latin typeface="Inter Light" pitchFamily="34" charset="0"/>
                <a:ea typeface="Inter Light" pitchFamily="34" charset="-122"/>
                <a:cs typeface="Inter Light" pitchFamily="34" charset="-120"/>
              </a:rPr>
              <a:t>, </a:t>
            </a:r>
            <a:pPr algn="l" indent="0" marL="0">
              <a:lnSpc>
                <a:spcPct val="131000"/>
              </a:lnSpc>
              <a:buNone/>
            </a:pPr>
            <a:r>
              <a:rPr lang="en-US" sz="1250" b="1" dirty="0">
                <a:solidFill>
                  <a:srgbClr val="3D3E44"/>
                </a:solidFill>
                <a:latin typeface="Inter Bold" pitchFamily="34" charset="0"/>
                <a:ea typeface="Inter Bold" pitchFamily="34" charset="-122"/>
                <a:cs typeface="Inter Bold" pitchFamily="34" charset="-120"/>
              </a:rPr>
              <a:t>generally positive customer satisfaction</a:t>
            </a:r>
            <a:pPr algn="l" indent="0" marL="0">
              <a:lnSpc>
                <a:spcPct val="131000"/>
              </a:lnSpc>
              <a:buNone/>
            </a:pPr>
            <a:r>
              <a:rPr lang="en-US" sz="1250" dirty="0">
                <a:solidFill>
                  <a:srgbClr val="3D3E44"/>
                </a:solidFill>
                <a:latin typeface="Inter Light" pitchFamily="34" charset="0"/>
                <a:ea typeface="Inter Light" pitchFamily="34" charset="-122"/>
                <a:cs typeface="Inter Light" pitchFamily="34" charset="-120"/>
              </a:rPr>
              <a:t>, and a small number of products attracting outsized customer attention. These four KPIs form the foundation of any Amazon product analysis dashboard.</a:t>
            </a:r>
            <a:endParaRPr lang="en-US" sz="1250" dirty="0"/>
          </a:p>
        </p:txBody>
      </p:sp>
      <p:sp>
        <p:nvSpPr>
          <p:cNvPr id="4" name="Text 2"/>
          <p:cNvSpPr/>
          <p:nvPr/>
        </p:nvSpPr>
        <p:spPr>
          <a:xfrm>
            <a:off x="661475" y="2106116"/>
            <a:ext cx="5337339" cy="528737"/>
          </a:xfrm>
          <a:prstGeom prst="rect">
            <a:avLst/>
          </a:prstGeom>
          <a:noFill/>
          <a:ln/>
        </p:spPr>
        <p:txBody>
          <a:bodyPr wrap="none" lIns="0" tIns="0" rIns="0" bIns="0" rtlCol="0" anchor="t"/>
          <a:lstStyle/>
          <a:p>
            <a:pPr algn="ctr" indent="0" marL="0">
              <a:lnSpc>
                <a:spcPct val="83000"/>
              </a:lnSpc>
              <a:buNone/>
            </a:pPr>
            <a:r>
              <a:rPr lang="en-US" sz="4150" dirty="0">
                <a:solidFill>
                  <a:srgbClr val="3D3E44"/>
                </a:solidFill>
                <a:latin typeface="Montserrat Medium" pitchFamily="34" charset="0"/>
                <a:ea typeface="Montserrat Medium" pitchFamily="34" charset="-122"/>
                <a:cs typeface="Montserrat Medium" pitchFamily="34" charset="-120"/>
              </a:rPr>
              <a:t>1,465</a:t>
            </a:r>
            <a:endParaRPr lang="en-US" sz="4150" dirty="0"/>
          </a:p>
        </p:txBody>
      </p:sp>
      <p:sp>
        <p:nvSpPr>
          <p:cNvPr id="5" name="Text 3"/>
          <p:cNvSpPr/>
          <p:nvPr/>
        </p:nvSpPr>
        <p:spPr>
          <a:xfrm>
            <a:off x="661475" y="2831306"/>
            <a:ext cx="5337339" cy="250329"/>
          </a:xfrm>
          <a:prstGeom prst="rect">
            <a:avLst/>
          </a:prstGeom>
          <a:noFill/>
          <a:ln/>
        </p:spPr>
        <p:txBody>
          <a:bodyPr wrap="none" lIns="0" tIns="0" rIns="0" bIns="0" rtlCol="0" anchor="t"/>
          <a:lstStyle/>
          <a:p>
            <a:pPr algn="ctr" indent="0" marL="0">
              <a:lnSpc>
                <a:spcPct val="104000"/>
              </a:lnSpc>
              <a:buNone/>
            </a:pPr>
            <a:r>
              <a:rPr lang="en-US" sz="1550" dirty="0">
                <a:solidFill>
                  <a:srgbClr val="3D3E44"/>
                </a:solidFill>
                <a:latin typeface="Montserrat Medium" pitchFamily="34" charset="0"/>
                <a:ea typeface="Montserrat Medium" pitchFamily="34" charset="-122"/>
                <a:cs typeface="Montserrat Medium" pitchFamily="34" charset="-120"/>
              </a:rPr>
              <a:t>Total Products</a:t>
            </a:r>
            <a:endParaRPr lang="en-US" sz="1550" dirty="0"/>
          </a:p>
        </p:txBody>
      </p:sp>
      <p:sp>
        <p:nvSpPr>
          <p:cNvPr id="6" name="Text 4"/>
          <p:cNvSpPr/>
          <p:nvPr/>
        </p:nvSpPr>
        <p:spPr>
          <a:xfrm>
            <a:off x="661475" y="3174702"/>
            <a:ext cx="5337339" cy="252313"/>
          </a:xfrm>
          <a:prstGeom prst="rect">
            <a:avLst/>
          </a:prstGeom>
          <a:noFill/>
          <a:ln/>
        </p:spPr>
        <p:txBody>
          <a:bodyPr wrap="none" lIns="0" tIns="0" rIns="0" bIns="0" rtlCol="0" anchor="t"/>
          <a:lstStyle/>
          <a:p>
            <a:pPr algn="ctr" indent="0" marL="0">
              <a:lnSpc>
                <a:spcPct val="131000"/>
              </a:lnSpc>
              <a:buNone/>
            </a:pPr>
            <a:r>
              <a:rPr lang="en-US" sz="1250" dirty="0">
                <a:solidFill>
                  <a:srgbClr val="3D3E44"/>
                </a:solidFill>
                <a:latin typeface="Inter Light" pitchFamily="34" charset="0"/>
                <a:ea typeface="Inter Light" pitchFamily="34" charset="-122"/>
                <a:cs typeface="Inter Light" pitchFamily="34" charset="-120"/>
              </a:rPr>
              <a:t>Across 13 main categories and dozens of subcategories in the dataset.</a:t>
            </a:r>
            <a:endParaRPr lang="en-US" sz="1250" dirty="0"/>
          </a:p>
        </p:txBody>
      </p:sp>
      <p:sp>
        <p:nvSpPr>
          <p:cNvPr id="7" name="Text 5"/>
          <p:cNvSpPr/>
          <p:nvPr/>
        </p:nvSpPr>
        <p:spPr>
          <a:xfrm>
            <a:off x="6192782" y="2106116"/>
            <a:ext cx="5337438" cy="528737"/>
          </a:xfrm>
          <a:prstGeom prst="rect">
            <a:avLst/>
          </a:prstGeom>
          <a:noFill/>
          <a:ln/>
        </p:spPr>
        <p:txBody>
          <a:bodyPr wrap="none" lIns="0" tIns="0" rIns="0" bIns="0" rtlCol="0" anchor="t"/>
          <a:lstStyle/>
          <a:p>
            <a:pPr algn="ctr" indent="0" marL="0">
              <a:lnSpc>
                <a:spcPct val="83000"/>
              </a:lnSpc>
              <a:buNone/>
            </a:pPr>
            <a:r>
              <a:rPr lang="en-US" sz="4150" dirty="0">
                <a:solidFill>
                  <a:srgbClr val="3D3E44"/>
                </a:solidFill>
                <a:latin typeface="Montserrat Medium" pitchFamily="34" charset="0"/>
                <a:ea typeface="Montserrat Medium" pitchFamily="34" charset="-122"/>
                <a:cs typeface="Montserrat Medium" pitchFamily="34" charset="-120"/>
              </a:rPr>
              <a:t>4.10</a:t>
            </a:r>
            <a:endParaRPr lang="en-US" sz="4150" dirty="0"/>
          </a:p>
        </p:txBody>
      </p:sp>
      <p:sp>
        <p:nvSpPr>
          <p:cNvPr id="8" name="Text 6"/>
          <p:cNvSpPr/>
          <p:nvPr/>
        </p:nvSpPr>
        <p:spPr>
          <a:xfrm>
            <a:off x="6192782" y="2831306"/>
            <a:ext cx="5337438" cy="250329"/>
          </a:xfrm>
          <a:prstGeom prst="rect">
            <a:avLst/>
          </a:prstGeom>
          <a:noFill/>
          <a:ln/>
        </p:spPr>
        <p:txBody>
          <a:bodyPr wrap="none" lIns="0" tIns="0" rIns="0" bIns="0" rtlCol="0" anchor="t"/>
          <a:lstStyle/>
          <a:p>
            <a:pPr algn="ctr" indent="0" marL="0">
              <a:lnSpc>
                <a:spcPct val="104000"/>
              </a:lnSpc>
              <a:buNone/>
            </a:pPr>
            <a:r>
              <a:rPr lang="en-US" sz="1550" dirty="0">
                <a:solidFill>
                  <a:srgbClr val="3D3E44"/>
                </a:solidFill>
                <a:latin typeface="Montserrat Medium" pitchFamily="34" charset="0"/>
                <a:ea typeface="Montserrat Medium" pitchFamily="34" charset="-122"/>
                <a:cs typeface="Montserrat Medium" pitchFamily="34" charset="-120"/>
              </a:rPr>
              <a:t>Avg Rating /5</a:t>
            </a:r>
            <a:endParaRPr lang="en-US" sz="1550" dirty="0"/>
          </a:p>
        </p:txBody>
      </p:sp>
      <p:sp>
        <p:nvSpPr>
          <p:cNvPr id="9" name="Text 7"/>
          <p:cNvSpPr/>
          <p:nvPr/>
        </p:nvSpPr>
        <p:spPr>
          <a:xfrm>
            <a:off x="6192782" y="3174702"/>
            <a:ext cx="5337438" cy="504627"/>
          </a:xfrm>
          <a:prstGeom prst="rect">
            <a:avLst/>
          </a:prstGeom>
          <a:noFill/>
          <a:ln/>
        </p:spPr>
        <p:txBody>
          <a:bodyPr wrap="square" lIns="0" tIns="0" rIns="0" bIns="0" rtlCol="0" anchor="t">
            <a:normAutofit/>
          </a:bodyPr>
          <a:lstStyle/>
          <a:p>
            <a:pPr algn="ctr" indent="0" marL="0">
              <a:lnSpc>
                <a:spcPct val="131000"/>
              </a:lnSpc>
              <a:buNone/>
            </a:pPr>
            <a:r>
              <a:rPr lang="en-US" sz="1250" dirty="0">
                <a:solidFill>
                  <a:srgbClr val="3D3E44"/>
                </a:solidFill>
                <a:latin typeface="Inter Light" pitchFamily="34" charset="0"/>
                <a:ea typeface="Inter Light" pitchFamily="34" charset="-122"/>
                <a:cs typeface="Inter Light" pitchFamily="34" charset="-120"/>
              </a:rPr>
              <a:t>The most common individual rating is 4.1, indicating generally positive customer feedback.</a:t>
            </a:r>
            <a:endParaRPr lang="en-US" sz="1250" dirty="0"/>
          </a:p>
        </p:txBody>
      </p:sp>
      <p:sp>
        <p:nvSpPr>
          <p:cNvPr id="10" name="Text 8"/>
          <p:cNvSpPr/>
          <p:nvPr/>
        </p:nvSpPr>
        <p:spPr>
          <a:xfrm>
            <a:off x="661475" y="4069755"/>
            <a:ext cx="5337339" cy="528737"/>
          </a:xfrm>
          <a:prstGeom prst="rect">
            <a:avLst/>
          </a:prstGeom>
          <a:noFill/>
          <a:ln/>
        </p:spPr>
        <p:txBody>
          <a:bodyPr wrap="none" lIns="0" tIns="0" rIns="0" bIns="0" rtlCol="0" anchor="t"/>
          <a:lstStyle/>
          <a:p>
            <a:pPr algn="ctr" indent="0" marL="0">
              <a:lnSpc>
                <a:spcPct val="83000"/>
              </a:lnSpc>
              <a:buNone/>
            </a:pPr>
            <a:r>
              <a:rPr lang="en-US" sz="4150" dirty="0">
                <a:solidFill>
                  <a:srgbClr val="3D3E44"/>
                </a:solidFill>
                <a:latin typeface="Montserrat Medium" pitchFamily="34" charset="0"/>
                <a:ea typeface="Montserrat Medium" pitchFamily="34" charset="-122"/>
                <a:cs typeface="Montserrat Medium" pitchFamily="34" charset="-120"/>
              </a:rPr>
              <a:t>47.7%</a:t>
            </a:r>
            <a:endParaRPr lang="en-US" sz="4150" dirty="0"/>
          </a:p>
        </p:txBody>
      </p:sp>
      <p:sp>
        <p:nvSpPr>
          <p:cNvPr id="11" name="Text 9"/>
          <p:cNvSpPr/>
          <p:nvPr/>
        </p:nvSpPr>
        <p:spPr>
          <a:xfrm>
            <a:off x="661475" y="4794945"/>
            <a:ext cx="5337339" cy="250329"/>
          </a:xfrm>
          <a:prstGeom prst="rect">
            <a:avLst/>
          </a:prstGeom>
          <a:noFill/>
          <a:ln/>
        </p:spPr>
        <p:txBody>
          <a:bodyPr wrap="none" lIns="0" tIns="0" rIns="0" bIns="0" rtlCol="0" anchor="t"/>
          <a:lstStyle/>
          <a:p>
            <a:pPr algn="ctr" indent="0" marL="0">
              <a:lnSpc>
                <a:spcPct val="104000"/>
              </a:lnSpc>
              <a:buNone/>
            </a:pPr>
            <a:r>
              <a:rPr lang="en-US" sz="1550" dirty="0">
                <a:solidFill>
                  <a:srgbClr val="3D3E44"/>
                </a:solidFill>
                <a:latin typeface="Montserrat Medium" pitchFamily="34" charset="0"/>
                <a:ea typeface="Montserrat Medium" pitchFamily="34" charset="-122"/>
                <a:cs typeface="Montserrat Medium" pitchFamily="34" charset="-120"/>
              </a:rPr>
              <a:t>Avg Discount</a:t>
            </a:r>
            <a:endParaRPr lang="en-US" sz="1550" dirty="0"/>
          </a:p>
        </p:txBody>
      </p:sp>
      <p:sp>
        <p:nvSpPr>
          <p:cNvPr id="12" name="Text 10"/>
          <p:cNvSpPr/>
          <p:nvPr/>
        </p:nvSpPr>
        <p:spPr>
          <a:xfrm>
            <a:off x="661475" y="5138341"/>
            <a:ext cx="5337339" cy="504627"/>
          </a:xfrm>
          <a:prstGeom prst="rect">
            <a:avLst/>
          </a:prstGeom>
          <a:noFill/>
          <a:ln/>
        </p:spPr>
        <p:txBody>
          <a:bodyPr wrap="square" lIns="0" tIns="0" rIns="0" bIns="0" rtlCol="0" anchor="t">
            <a:normAutofit/>
          </a:bodyPr>
          <a:lstStyle/>
          <a:p>
            <a:pPr algn="ctr" indent="0" marL="0">
              <a:lnSpc>
                <a:spcPct val="131000"/>
              </a:lnSpc>
              <a:buNone/>
            </a:pPr>
            <a:r>
              <a:rPr lang="en-US" sz="1250" dirty="0">
                <a:solidFill>
                  <a:srgbClr val="3D3E44"/>
                </a:solidFill>
                <a:latin typeface="Inter Light" pitchFamily="34" charset="0"/>
                <a:ea typeface="Inter Light" pitchFamily="34" charset="-122"/>
                <a:cs typeface="Inter Light" pitchFamily="34" charset="-120"/>
              </a:rPr>
              <a:t>Median discount is 50%, suggesting aggressive promotional pricing is common across the marketplace.</a:t>
            </a:r>
            <a:endParaRPr lang="en-US" sz="1250" dirty="0"/>
          </a:p>
        </p:txBody>
      </p:sp>
      <p:sp>
        <p:nvSpPr>
          <p:cNvPr id="13" name="Text 11"/>
          <p:cNvSpPr/>
          <p:nvPr/>
        </p:nvSpPr>
        <p:spPr>
          <a:xfrm>
            <a:off x="6192782" y="4069755"/>
            <a:ext cx="5337438" cy="528737"/>
          </a:xfrm>
          <a:prstGeom prst="rect">
            <a:avLst/>
          </a:prstGeom>
          <a:noFill/>
          <a:ln/>
        </p:spPr>
        <p:txBody>
          <a:bodyPr wrap="none" lIns="0" tIns="0" rIns="0" bIns="0" rtlCol="0" anchor="t"/>
          <a:lstStyle/>
          <a:p>
            <a:pPr algn="ctr" indent="0" marL="0">
              <a:lnSpc>
                <a:spcPct val="83000"/>
              </a:lnSpc>
              <a:buNone/>
            </a:pPr>
            <a:r>
              <a:rPr lang="en-US" sz="4150" dirty="0">
                <a:solidFill>
                  <a:srgbClr val="3D3E44"/>
                </a:solidFill>
                <a:latin typeface="Montserrat Medium" pitchFamily="34" charset="0"/>
                <a:ea typeface="Montserrat Medium" pitchFamily="34" charset="-122"/>
                <a:cs typeface="Montserrat Medium" pitchFamily="34" charset="-120"/>
              </a:rPr>
              <a:t>₹3,125</a:t>
            </a:r>
            <a:endParaRPr lang="en-US" sz="4150" dirty="0"/>
          </a:p>
        </p:txBody>
      </p:sp>
      <p:sp>
        <p:nvSpPr>
          <p:cNvPr id="14" name="Text 12"/>
          <p:cNvSpPr/>
          <p:nvPr/>
        </p:nvSpPr>
        <p:spPr>
          <a:xfrm>
            <a:off x="6192782" y="4794945"/>
            <a:ext cx="5337438" cy="250329"/>
          </a:xfrm>
          <a:prstGeom prst="rect">
            <a:avLst/>
          </a:prstGeom>
          <a:noFill/>
          <a:ln/>
        </p:spPr>
        <p:txBody>
          <a:bodyPr wrap="none" lIns="0" tIns="0" rIns="0" bIns="0" rtlCol="0" anchor="t"/>
          <a:lstStyle/>
          <a:p>
            <a:pPr algn="ctr" indent="0" marL="0">
              <a:lnSpc>
                <a:spcPct val="104000"/>
              </a:lnSpc>
              <a:buNone/>
            </a:pPr>
            <a:r>
              <a:rPr lang="en-US" sz="1550" dirty="0">
                <a:solidFill>
                  <a:srgbClr val="3D3E44"/>
                </a:solidFill>
                <a:latin typeface="Montserrat Medium" pitchFamily="34" charset="0"/>
                <a:ea typeface="Montserrat Medium" pitchFamily="34" charset="-122"/>
                <a:cs typeface="Montserrat Medium" pitchFamily="34" charset="-120"/>
              </a:rPr>
              <a:t>Avg Discounted Price</a:t>
            </a:r>
            <a:endParaRPr lang="en-US" sz="1550" dirty="0"/>
          </a:p>
        </p:txBody>
      </p:sp>
      <p:sp>
        <p:nvSpPr>
          <p:cNvPr id="15" name="Text 13"/>
          <p:cNvSpPr/>
          <p:nvPr/>
        </p:nvSpPr>
        <p:spPr>
          <a:xfrm>
            <a:off x="6192782" y="5138341"/>
            <a:ext cx="5337438" cy="504627"/>
          </a:xfrm>
          <a:prstGeom prst="rect">
            <a:avLst/>
          </a:prstGeom>
          <a:noFill/>
          <a:ln/>
        </p:spPr>
        <p:txBody>
          <a:bodyPr wrap="square" lIns="0" tIns="0" rIns="0" bIns="0" rtlCol="0" anchor="t">
            <a:normAutofit/>
          </a:bodyPr>
          <a:lstStyle/>
          <a:p>
            <a:pPr algn="ctr" indent="0" marL="0">
              <a:lnSpc>
                <a:spcPct val="131000"/>
              </a:lnSpc>
              <a:buNone/>
            </a:pPr>
            <a:r>
              <a:rPr lang="en-US" sz="1250" dirty="0">
                <a:solidFill>
                  <a:srgbClr val="3D3E44"/>
                </a:solidFill>
                <a:latin typeface="Inter Light" pitchFamily="34" charset="0"/>
                <a:ea typeface="Inter Light" pitchFamily="34" charset="-122"/>
                <a:cs typeface="Inter Light" pitchFamily="34" charset="-120"/>
              </a:rPr>
              <a:t>Compared with an average actual price of ₹5,445 — a substantial reduction from list price.</a:t>
            </a:r>
            <a:endParaRPr lang="en-US" sz="1250" dirty="0"/>
          </a:p>
        </p:txBody>
      </p:sp>
      <p:sp>
        <p:nvSpPr>
          <p:cNvPr id="16" name="Text 14"/>
          <p:cNvSpPr/>
          <p:nvPr/>
        </p:nvSpPr>
        <p:spPr>
          <a:xfrm>
            <a:off x="661475" y="5817493"/>
            <a:ext cx="10868745" cy="504627"/>
          </a:xfrm>
          <a:prstGeom prst="rect">
            <a:avLst/>
          </a:prstGeom>
          <a:noFill/>
          <a:ln/>
        </p:spPr>
        <p:txBody>
          <a:bodyPr wrap="square" lIns="0" tIns="0" rIns="0" bIns="0" rtlCol="0" anchor="t">
            <a:normAutofit/>
          </a:bodyPr>
          <a:lstStyle/>
          <a:p>
            <a:pPr algn="l" indent="0" marL="0">
              <a:lnSpc>
                <a:spcPct val="131000"/>
              </a:lnSpc>
              <a:buNone/>
            </a:pPr>
            <a:r>
              <a:rPr lang="en-US" sz="1250" dirty="0">
                <a:solidFill>
                  <a:srgbClr val="3D3E44"/>
                </a:solidFill>
                <a:latin typeface="Inter Light" pitchFamily="34" charset="0"/>
                <a:ea typeface="Inter Light" pitchFamily="34" charset="-122"/>
                <a:cs typeface="Inter Light" pitchFamily="34" charset="-120"/>
              </a:rPr>
              <a:t>Products with very large review counts include </a:t>
            </a:r>
            <a:pPr algn="l" indent="0" marL="0">
              <a:lnSpc>
                <a:spcPct val="131000"/>
              </a:lnSpc>
              <a:buNone/>
            </a:pPr>
            <a:r>
              <a:rPr lang="en-US" sz="1250" b="1" dirty="0">
                <a:solidFill>
                  <a:srgbClr val="3D3E44"/>
                </a:solidFill>
                <a:latin typeface="Inter Bold" pitchFamily="34" charset="0"/>
                <a:ea typeface="Inter Bold" pitchFamily="34" charset="-122"/>
                <a:cs typeface="Inter Bold" pitchFamily="34" charset="-120"/>
              </a:rPr>
              <a:t>Amazon Basics HDMI cables</a:t>
            </a:r>
            <a:pPr algn="l" indent="0" marL="0">
              <a:lnSpc>
                <a:spcPct val="131000"/>
              </a:lnSpc>
              <a:buNone/>
            </a:pPr>
            <a:r>
              <a:rPr lang="en-US" sz="1250" dirty="0">
                <a:solidFill>
                  <a:srgbClr val="3D3E44"/>
                </a:solidFill>
                <a:latin typeface="Inter Light" pitchFamily="34" charset="0"/>
                <a:ea typeface="Inter Light" pitchFamily="34" charset="-122"/>
                <a:cs typeface="Inter Light" pitchFamily="34" charset="-120"/>
              </a:rPr>
              <a:t> and </a:t>
            </a:r>
            <a:pPr algn="l" indent="0" marL="0">
              <a:lnSpc>
                <a:spcPct val="131000"/>
              </a:lnSpc>
              <a:buNone/>
            </a:pPr>
            <a:r>
              <a:rPr lang="en-US" sz="1250" b="1" dirty="0">
                <a:solidFill>
                  <a:srgbClr val="3D3E44"/>
                </a:solidFill>
                <a:latin typeface="Inter Bold" pitchFamily="34" charset="0"/>
                <a:ea typeface="Inter Bold" pitchFamily="34" charset="-122"/>
                <a:cs typeface="Inter Bold" pitchFamily="34" charset="-120"/>
              </a:rPr>
              <a:t>boAt Bassheads 100 earphones</a:t>
            </a:r>
            <a:pPr algn="l" indent="0" marL="0">
              <a:lnSpc>
                <a:spcPct val="131000"/>
              </a:lnSpc>
              <a:buNone/>
            </a:pPr>
            <a:r>
              <a:rPr lang="en-US" sz="1250" dirty="0">
                <a:solidFill>
                  <a:srgbClr val="3D3E44"/>
                </a:solidFill>
                <a:latin typeface="Inter Light" pitchFamily="34" charset="0"/>
                <a:ea typeface="Inter Light" pitchFamily="34" charset="-122"/>
                <a:cs typeface="Inter Light" pitchFamily="34" charset="-120"/>
              </a:rPr>
              <a:t>, suggesting strong customer engagement. This dataset can be used to analyze what products are being sold, their prices, discounts, ratings, and customer reviews.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454819"/>
            <a:ext cx="10868745" cy="508695"/>
          </a:xfrm>
          <a:prstGeom prst="rect">
            <a:avLst/>
          </a:prstGeom>
          <a:noFill/>
          <a:ln/>
        </p:spPr>
        <p:txBody>
          <a:bodyPr wrap="none" lIns="0" tIns="0" rIns="0" bIns="0" rtlCol="0" anchor="t"/>
          <a:lstStyle/>
          <a:p>
            <a:pPr algn="l" indent="0" marL="0">
              <a:lnSpc>
                <a:spcPct val="104000"/>
              </a:lnSpc>
              <a:buNone/>
            </a:pPr>
            <a:r>
              <a:rPr lang="en-US" sz="3200" dirty="0">
                <a:solidFill>
                  <a:srgbClr val="74767D"/>
                </a:solidFill>
                <a:latin typeface="Montserrat Medium" pitchFamily="34" charset="0"/>
                <a:ea typeface="Montserrat Medium" pitchFamily="34" charset="-122"/>
                <a:cs typeface="Montserrat Medium" pitchFamily="34" charset="-120"/>
              </a:rPr>
              <a:t>Top Trends Summary</a:t>
            </a:r>
            <a:endParaRPr lang="en-US" sz="3200" dirty="0"/>
          </a:p>
        </p:txBody>
      </p:sp>
      <p:sp>
        <p:nvSpPr>
          <p:cNvPr id="3" name="Text 1"/>
          <p:cNvSpPr/>
          <p:nvPr/>
        </p:nvSpPr>
        <p:spPr>
          <a:xfrm>
            <a:off x="661475" y="1283990"/>
            <a:ext cx="11478330" cy="258465"/>
          </a:xfrm>
          <a:prstGeom prst="rect">
            <a:avLst/>
          </a:prstGeom>
          <a:noFill/>
          <a:ln/>
        </p:spPr>
        <p:txBody>
          <a:bodyPr wrap="none" lIns="0" tIns="0" rIns="0" bIns="0" rtlCol="0" anchor="t"/>
          <a:lstStyle/>
          <a:p>
            <a:pPr algn="l" indent="0" marL="0">
              <a:lnSpc>
                <a:spcPct val="132000"/>
              </a:lnSpc>
              <a:buNone/>
            </a:pPr>
            <a:r>
              <a:rPr lang="en-US" sz="1250" dirty="0">
                <a:solidFill>
                  <a:srgbClr val="3D3E44"/>
                </a:solidFill>
                <a:latin typeface="Inter Light" pitchFamily="34" charset="0"/>
                <a:ea typeface="Inter Light" pitchFamily="34" charset="-122"/>
                <a:cs typeface="Inter Light" pitchFamily="34" charset="-120"/>
              </a:rPr>
              <a:t>Five dominant trends emerge from the 1,465-product dataset, each with direct implications for dashboard design and business strategy.</a:t>
            </a:r>
            <a:endParaRPr lang="en-US" sz="12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722735"/>
            <a:ext cx="3516026" cy="2260600"/>
          </a:xfrm>
          <a:prstGeom prst="rect">
            <a:avLst/>
          </a:prstGeom>
        </p:spPr>
      </p:pic>
      <p:sp>
        <p:nvSpPr>
          <p:cNvPr id="5" name="Text 2"/>
          <p:cNvSpPr/>
          <p:nvPr/>
        </p:nvSpPr>
        <p:spPr>
          <a:xfrm>
            <a:off x="919437" y="1904504"/>
            <a:ext cx="3076300" cy="254298"/>
          </a:xfrm>
          <a:prstGeom prst="rect">
            <a:avLst/>
          </a:prstGeom>
          <a:noFill/>
          <a:ln/>
        </p:spPr>
        <p:txBody>
          <a:bodyPr wrap="none" lIns="0" tIns="0" rIns="0" bIns="0" rtlCol="0" anchor="t"/>
          <a:lstStyle/>
          <a:p>
            <a:pPr algn="l" indent="0" marL="0">
              <a:lnSpc>
                <a:spcPct val="104000"/>
              </a:lnSpc>
              <a:buNone/>
            </a:pPr>
            <a:r>
              <a:rPr lang="en-US" sz="160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600" dirty="0">
                <a:solidFill>
                  <a:srgbClr val="3D3E44"/>
                </a:solidFill>
                <a:latin typeface="Montserrat Medium" pitchFamily="34" charset="0"/>
                <a:ea typeface="Montserrat Medium" pitchFamily="34" charset="-122"/>
                <a:cs typeface="Montserrat Medium" pitchFamily="34" charset="-120"/>
              </a:rPr>
              <a:t> Electronics Dominates</a:t>
            </a:r>
            <a:endParaRPr lang="en-US" sz="1600" dirty="0"/>
          </a:p>
        </p:txBody>
      </p:sp>
      <p:sp>
        <p:nvSpPr>
          <p:cNvPr id="6" name="Text 3"/>
          <p:cNvSpPr/>
          <p:nvPr/>
        </p:nvSpPr>
        <p:spPr>
          <a:xfrm>
            <a:off x="919437" y="2254945"/>
            <a:ext cx="3076300" cy="1292324"/>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D3E44"/>
                </a:solidFill>
                <a:latin typeface="Inter Light" pitchFamily="34" charset="0"/>
                <a:ea typeface="Inter Light" pitchFamily="34" charset="-122"/>
                <a:cs typeface="Inter Light" pitchFamily="34" charset="-120"/>
              </a:rPr>
              <a:t>Electronics (526), Computers &amp; Accessories (453), and Home &amp; Kitchen (448) together represent almost the entire dataset. This concentration is both a strength and a potential vulnerability.</a:t>
            </a:r>
            <a:endParaRPr lang="en-US" sz="12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37735" y="1722735"/>
            <a:ext cx="3516125" cy="2260600"/>
          </a:xfrm>
          <a:prstGeom prst="rect">
            <a:avLst/>
          </a:prstGeom>
        </p:spPr>
      </p:pic>
      <p:sp>
        <p:nvSpPr>
          <p:cNvPr id="8" name="Text 4"/>
          <p:cNvSpPr/>
          <p:nvPr/>
        </p:nvSpPr>
        <p:spPr>
          <a:xfrm>
            <a:off x="4595698" y="1904504"/>
            <a:ext cx="3076399" cy="508595"/>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600" dirty="0">
                <a:solidFill>
                  <a:srgbClr val="3D3E44"/>
                </a:solidFill>
                <a:latin typeface="Montserrat Medium" pitchFamily="34" charset="0"/>
                <a:ea typeface="Montserrat Medium" pitchFamily="34" charset="-122"/>
                <a:cs typeface="Montserrat Medium" pitchFamily="34" charset="-120"/>
              </a:rPr>
              <a:t> USB Cables Lead Subcategories</a:t>
            </a:r>
            <a:endParaRPr lang="en-US" sz="1600" dirty="0"/>
          </a:p>
        </p:txBody>
      </p:sp>
      <p:sp>
        <p:nvSpPr>
          <p:cNvPr id="9" name="Text 5"/>
          <p:cNvSpPr/>
          <p:nvPr/>
        </p:nvSpPr>
        <p:spPr>
          <a:xfrm>
            <a:off x="4595698" y="2509242"/>
            <a:ext cx="3076399" cy="1292324"/>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D3E44"/>
                </a:solidFill>
                <a:latin typeface="Inter Light" pitchFamily="34" charset="0"/>
                <a:ea typeface="Inter Light" pitchFamily="34" charset="-122"/>
                <a:cs typeface="Inter Light" pitchFamily="34" charset="-120"/>
              </a:rPr>
              <a:t>With 233 products, USB Cables far outpace all other subcategories. Smart Watches (76), Smartphones (68), and Smart TVs (63) follow as the next most represented segments.</a:t>
            </a:r>
            <a:endParaRPr lang="en-US" sz="12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14095" y="1722735"/>
            <a:ext cx="3516125" cy="2260600"/>
          </a:xfrm>
          <a:prstGeom prst="rect">
            <a:avLst/>
          </a:prstGeom>
        </p:spPr>
      </p:pic>
      <p:sp>
        <p:nvSpPr>
          <p:cNvPr id="11" name="Text 6"/>
          <p:cNvSpPr/>
          <p:nvPr/>
        </p:nvSpPr>
        <p:spPr>
          <a:xfrm>
            <a:off x="8272057" y="1904504"/>
            <a:ext cx="3076399" cy="508595"/>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600" dirty="0">
                <a:solidFill>
                  <a:srgbClr val="3D3E44"/>
                </a:solidFill>
                <a:latin typeface="Montserrat Medium" pitchFamily="34" charset="0"/>
                <a:ea typeface="Montserrat Medium" pitchFamily="34" charset="-122"/>
                <a:cs typeface="Montserrat Medium" pitchFamily="34" charset="-120"/>
              </a:rPr>
              <a:t> Heavy Discounting Is the Norm</a:t>
            </a:r>
            <a:endParaRPr lang="en-US" sz="1600" dirty="0"/>
          </a:p>
        </p:txBody>
      </p:sp>
      <p:sp>
        <p:nvSpPr>
          <p:cNvPr id="12" name="Text 7"/>
          <p:cNvSpPr/>
          <p:nvPr/>
        </p:nvSpPr>
        <p:spPr>
          <a:xfrm>
            <a:off x="8272057" y="2509242"/>
            <a:ext cx="3076399" cy="1292324"/>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D3E44"/>
                </a:solidFill>
                <a:latin typeface="Inter Light" pitchFamily="34" charset="0"/>
                <a:ea typeface="Inter Light" pitchFamily="34" charset="-122"/>
                <a:cs typeface="Inter Light" pitchFamily="34" charset="-120"/>
              </a:rPr>
              <a:t>Average discount of 47.7% with a median of 50% indicates that promotional pricing is standard practice. A few products exceed 90% discount, which warrants investigation.</a:t>
            </a:r>
            <a:endParaRPr lang="en-US" sz="125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4143573"/>
            <a:ext cx="3516026" cy="2260600"/>
          </a:xfrm>
          <a:prstGeom prst="rect">
            <a:avLst/>
          </a:prstGeom>
        </p:spPr>
      </p:pic>
      <p:sp>
        <p:nvSpPr>
          <p:cNvPr id="14" name="Text 8"/>
          <p:cNvSpPr/>
          <p:nvPr/>
        </p:nvSpPr>
        <p:spPr>
          <a:xfrm>
            <a:off x="919437" y="4325342"/>
            <a:ext cx="3076300" cy="508595"/>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600" dirty="0">
                <a:solidFill>
                  <a:srgbClr val="3D3E44"/>
                </a:solidFill>
                <a:latin typeface="Montserrat Medium" pitchFamily="34" charset="0"/>
                <a:ea typeface="Montserrat Medium" pitchFamily="34" charset="-122"/>
                <a:cs typeface="Montserrat Medium" pitchFamily="34" charset="-120"/>
              </a:rPr>
              <a:t> Ratings Are Generally Positive</a:t>
            </a:r>
            <a:endParaRPr lang="en-US" sz="1600" dirty="0"/>
          </a:p>
        </p:txBody>
      </p:sp>
      <p:sp>
        <p:nvSpPr>
          <p:cNvPr id="15" name="Text 9"/>
          <p:cNvSpPr/>
          <p:nvPr/>
        </p:nvSpPr>
        <p:spPr>
          <a:xfrm>
            <a:off x="919437" y="4930080"/>
            <a:ext cx="3076300" cy="1033859"/>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D3E44"/>
                </a:solidFill>
                <a:latin typeface="Inter Light" pitchFamily="34" charset="0"/>
                <a:ea typeface="Inter Light" pitchFamily="34" charset="-122"/>
                <a:cs typeface="Inter Light" pitchFamily="34" charset="-120"/>
              </a:rPr>
              <a:t>Average rating of 4.10/5 with 4.1 as the most common individual score reflects strong customer satisfaction across the product catalog.</a:t>
            </a:r>
            <a:endParaRPr lang="en-US" sz="1250" dirty="0"/>
          </a:p>
        </p:txBody>
      </p:sp>
      <p:pic>
        <p:nvPicPr>
          <p:cNvPr id="1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37735" y="4143573"/>
            <a:ext cx="3516125" cy="2260600"/>
          </a:xfrm>
          <a:prstGeom prst="rect">
            <a:avLst/>
          </a:prstGeom>
        </p:spPr>
      </p:pic>
      <p:sp>
        <p:nvSpPr>
          <p:cNvPr id="17" name="Text 10"/>
          <p:cNvSpPr/>
          <p:nvPr/>
        </p:nvSpPr>
        <p:spPr>
          <a:xfrm>
            <a:off x="4595698" y="4325342"/>
            <a:ext cx="3076399" cy="508595"/>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600" dirty="0">
                <a:solidFill>
                  <a:srgbClr val="3D3E44"/>
                </a:solidFill>
                <a:latin typeface="Montserrat Medium" pitchFamily="34" charset="0"/>
                <a:ea typeface="Montserrat Medium" pitchFamily="34" charset="-122"/>
                <a:cs typeface="Montserrat Medium" pitchFamily="34" charset="-120"/>
              </a:rPr>
              <a:t> Few Products Drive Massive Engagement</a:t>
            </a:r>
            <a:endParaRPr lang="en-US" sz="1600" dirty="0"/>
          </a:p>
        </p:txBody>
      </p:sp>
      <p:sp>
        <p:nvSpPr>
          <p:cNvPr id="18" name="Text 11"/>
          <p:cNvSpPr/>
          <p:nvPr/>
        </p:nvSpPr>
        <p:spPr>
          <a:xfrm>
            <a:off x="4595698" y="4930080"/>
            <a:ext cx="3076399" cy="1292324"/>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D3E44"/>
                </a:solidFill>
                <a:latin typeface="Inter Light" pitchFamily="34" charset="0"/>
                <a:ea typeface="Inter Light" pitchFamily="34" charset="-122"/>
                <a:cs typeface="Inter Light" pitchFamily="34" charset="-120"/>
              </a:rPr>
              <a:t>A small number of products attract hundreds of thousands of ratings, dramatically higher than the dataset median of roughly 1,186 ratings per product.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629146"/>
            <a:ext cx="10868745" cy="468412"/>
          </a:xfrm>
          <a:prstGeom prst="rect">
            <a:avLst/>
          </a:prstGeom>
          <a:noFill/>
          <a:ln/>
        </p:spPr>
        <p:txBody>
          <a:bodyPr wrap="none" lIns="0" tIns="0" rIns="0" bIns="0" rtlCol="0" anchor="t"/>
          <a:lstStyle/>
          <a:p>
            <a:pPr algn="l" indent="0" marL="0">
              <a:lnSpc>
                <a:spcPct val="104000"/>
              </a:lnSpc>
              <a:buNone/>
            </a:pPr>
            <a:r>
              <a:rPr lang="en-US" sz="2950" dirty="0">
                <a:solidFill>
                  <a:srgbClr val="74767D"/>
                </a:solidFill>
                <a:latin typeface="Montserrat Medium" pitchFamily="34" charset="0"/>
                <a:ea typeface="Montserrat Medium" pitchFamily="34" charset="-122"/>
                <a:cs typeface="Montserrat Medium" pitchFamily="34" charset="-120"/>
              </a:rPr>
              <a:t>Important Anomalies to Flag</a:t>
            </a:r>
            <a:endParaRPr lang="en-US" sz="2950" dirty="0"/>
          </a:p>
        </p:txBody>
      </p:sp>
      <p:sp>
        <p:nvSpPr>
          <p:cNvPr id="3" name="Text 1"/>
          <p:cNvSpPr/>
          <p:nvPr/>
        </p:nvSpPr>
        <p:spPr>
          <a:xfrm>
            <a:off x="661475" y="1369219"/>
            <a:ext cx="10868745" cy="457200"/>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3D3E44"/>
                </a:solidFill>
                <a:latin typeface="Inter Light" pitchFamily="34" charset="0"/>
                <a:ea typeface="Inter Light" pitchFamily="34" charset="-122"/>
                <a:cs typeface="Inter Light" pitchFamily="34" charset="-120"/>
              </a:rPr>
              <a:t>Four categories of anomalies require attention during data cleaning and analysis. These outliers can distort KPIs, product counts, average ratings, and category-level conclusions if left unaddressed.</a:t>
            </a:r>
            <a:endParaRPr lang="en-US" sz="1150" dirty="0"/>
          </a:p>
        </p:txBody>
      </p:sp>
      <p:sp>
        <p:nvSpPr>
          <p:cNvPr id="4" name="Text 2"/>
          <p:cNvSpPr/>
          <p:nvPr/>
        </p:nvSpPr>
        <p:spPr>
          <a:xfrm>
            <a:off x="661475" y="2115046"/>
            <a:ext cx="5251517" cy="240506"/>
          </a:xfrm>
          <a:prstGeom prst="rect">
            <a:avLst/>
          </a:prstGeom>
          <a:noFill/>
          <a:ln/>
        </p:spPr>
        <p:txBody>
          <a:bodyPr wrap="none" lIns="0" tIns="0" rIns="0" bIns="0" rtlCol="0" anchor="t"/>
          <a:lstStyle/>
          <a:p>
            <a:pPr algn="l" indent="0" marL="0">
              <a:lnSpc>
                <a:spcPct val="104000"/>
              </a:lnSpc>
              <a:buNone/>
            </a:pPr>
            <a:r>
              <a:rPr lang="en-US" sz="14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450" dirty="0">
                <a:solidFill>
                  <a:srgbClr val="74767D"/>
                </a:solidFill>
                <a:latin typeface="Montserrat Medium" pitchFamily="34" charset="0"/>
                <a:ea typeface="Montserrat Medium" pitchFamily="34" charset="-122"/>
                <a:cs typeface="Montserrat Medium" pitchFamily="34" charset="-120"/>
              </a:rPr>
              <a:t> Extremely High Review Counts</a:t>
            </a:r>
            <a:endParaRPr lang="en-US" sz="1450" dirty="0"/>
          </a:p>
        </p:txBody>
      </p:sp>
      <p:sp>
        <p:nvSpPr>
          <p:cNvPr id="5" name="Text 3"/>
          <p:cNvSpPr/>
          <p:nvPr/>
        </p:nvSpPr>
        <p:spPr>
          <a:xfrm>
            <a:off x="661475" y="2491383"/>
            <a:ext cx="5251517" cy="457200"/>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3D3E44"/>
                </a:solidFill>
                <a:latin typeface="Inter Light" pitchFamily="34" charset="0"/>
                <a:ea typeface="Inter Light" pitchFamily="34" charset="-122"/>
                <a:cs typeface="Inter Light" pitchFamily="34" charset="-120"/>
              </a:rPr>
              <a:t>Some products have dramatically more reviews than the typical product, which has a median of roughly 1,186 ratings:</a:t>
            </a:r>
            <a:endParaRPr lang="en-US" sz="1150" dirty="0"/>
          </a:p>
        </p:txBody>
      </p:sp>
      <p:sp>
        <p:nvSpPr>
          <p:cNvPr id="6" name="Text 4"/>
          <p:cNvSpPr/>
          <p:nvPr/>
        </p:nvSpPr>
        <p:spPr>
          <a:xfrm>
            <a:off x="661475" y="3070820"/>
            <a:ext cx="5251517" cy="504726"/>
          </a:xfrm>
          <a:prstGeom prst="rect">
            <a:avLst/>
          </a:prstGeom>
          <a:noFill/>
          <a:ln/>
        </p:spPr>
        <p:txBody>
          <a:bodyPr wrap="square" lIns="0" tIns="0" rIns="0" bIns="0" rtlCol="0" anchor="t">
            <a:normAutofit/>
          </a:bodyPr>
          <a:lstStyle/>
          <a:p>
            <a:pPr algn="l" marL="233680" indent="-233680">
              <a:lnSpc>
                <a:spcPct val="127000"/>
              </a:lnSpc>
              <a:buSzPct val="100000"/>
              <a:buChar char="•"/>
            </a:pPr>
            <a:r>
              <a:rPr lang="en-US" sz="1150" b="1" dirty="0">
                <a:solidFill>
                  <a:srgbClr val="3D3E44"/>
                </a:solidFill>
                <a:latin typeface="Inter Bold" pitchFamily="34" charset="0"/>
                <a:ea typeface="Inter Bold" pitchFamily="34" charset="-122"/>
                <a:cs typeface="Inter Bold" pitchFamily="34" charset="-120"/>
              </a:rPr>
              <a:t>AmazonBasics HDMI Cable:</a:t>
            </a:r>
            <a:pPr algn="l" marL="233680" indent="-233680">
              <a:lnSpc>
                <a:spcPct val="127000"/>
              </a:lnSpc>
              <a:buSzPct val="100000"/>
              <a:buChar char="•"/>
            </a:pPr>
            <a:r>
              <a:rPr lang="en-US" sz="1150" dirty="0">
                <a:solidFill>
                  <a:srgbClr val="3D3E44"/>
                </a:solidFill>
                <a:latin typeface="Inter Light" pitchFamily="34" charset="0"/>
                <a:ea typeface="Inter Light" pitchFamily="34" charset="-122"/>
                <a:cs typeface="Inter Light" pitchFamily="34" charset="-120"/>
              </a:rPr>
              <a:t> ~426,973 ratings</a:t>
            </a:r>
            <a:endParaRPr lang="en-US" sz="1150" dirty="0"/>
          </a:p>
          <a:p>
            <a:pPr algn="l" marL="233680" indent="-233680">
              <a:lnSpc>
                <a:spcPct val="127000"/>
              </a:lnSpc>
              <a:buSzPct val="100000"/>
              <a:buChar char="•"/>
            </a:pPr>
            <a:r>
              <a:rPr lang="en-US" sz="1150" b="1" dirty="0">
                <a:solidFill>
                  <a:srgbClr val="3D3E44"/>
                </a:solidFill>
                <a:latin typeface="Inter Bold" pitchFamily="34" charset="0"/>
                <a:ea typeface="Inter Bold" pitchFamily="34" charset="-122"/>
                <a:cs typeface="Inter Bold" pitchFamily="34" charset="-120"/>
              </a:rPr>
              <a:t>boAt Bassheads 100:</a:t>
            </a:r>
            <a:pPr algn="l" marL="233680" indent="-233680">
              <a:lnSpc>
                <a:spcPct val="127000"/>
              </a:lnSpc>
              <a:buSzPct val="100000"/>
              <a:buChar char="•"/>
            </a:pPr>
            <a:r>
              <a:rPr lang="en-US" sz="1150" dirty="0">
                <a:solidFill>
                  <a:srgbClr val="3D3E44"/>
                </a:solidFill>
                <a:latin typeface="Inter Light" pitchFamily="34" charset="0"/>
                <a:ea typeface="Inter Light" pitchFamily="34" charset="-122"/>
                <a:cs typeface="Inter Light" pitchFamily="34" charset="-120"/>
              </a:rPr>
              <a:t> ~363,713 ratings</a:t>
            </a:r>
            <a:endParaRPr lang="en-US" sz="1150" dirty="0"/>
          </a:p>
        </p:txBody>
      </p:sp>
      <p:sp>
        <p:nvSpPr>
          <p:cNvPr id="7" name="Text 5"/>
          <p:cNvSpPr/>
          <p:nvPr/>
        </p:nvSpPr>
        <p:spPr>
          <a:xfrm>
            <a:off x="661475" y="3697784"/>
            <a:ext cx="5251517" cy="457200"/>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3D3E44"/>
                </a:solidFill>
                <a:latin typeface="Inter Light" pitchFamily="34" charset="0"/>
                <a:ea typeface="Inter Light" pitchFamily="34" charset="-122"/>
                <a:cs typeface="Inter Light" pitchFamily="34" charset="-120"/>
              </a:rPr>
              <a:t>These are major outliers that can skew average rating counts and popularity metrics across the dataset.</a:t>
            </a:r>
            <a:endParaRPr lang="en-US" sz="1150" dirty="0"/>
          </a:p>
        </p:txBody>
      </p:sp>
      <p:sp>
        <p:nvSpPr>
          <p:cNvPr id="8" name="Text 6"/>
          <p:cNvSpPr/>
          <p:nvPr/>
        </p:nvSpPr>
        <p:spPr>
          <a:xfrm>
            <a:off x="661475" y="4290814"/>
            <a:ext cx="5251517" cy="240506"/>
          </a:xfrm>
          <a:prstGeom prst="rect">
            <a:avLst/>
          </a:prstGeom>
          <a:noFill/>
          <a:ln/>
        </p:spPr>
        <p:txBody>
          <a:bodyPr wrap="none" lIns="0" tIns="0" rIns="0" bIns="0" rtlCol="0" anchor="t"/>
          <a:lstStyle/>
          <a:p>
            <a:pPr algn="l" indent="0" marL="0">
              <a:lnSpc>
                <a:spcPct val="104000"/>
              </a:lnSpc>
              <a:buNone/>
            </a:pPr>
            <a:r>
              <a:rPr lang="en-US" sz="14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450" dirty="0">
                <a:solidFill>
                  <a:srgbClr val="74767D"/>
                </a:solidFill>
                <a:latin typeface="Montserrat Medium" pitchFamily="34" charset="0"/>
                <a:ea typeface="Montserrat Medium" pitchFamily="34" charset="-122"/>
                <a:cs typeface="Montserrat Medium" pitchFamily="34" charset="-120"/>
              </a:rPr>
              <a:t> Extreme Prices</a:t>
            </a:r>
            <a:endParaRPr lang="en-US" sz="1450" dirty="0"/>
          </a:p>
        </p:txBody>
      </p:sp>
      <p:sp>
        <p:nvSpPr>
          <p:cNvPr id="9" name="Text 7"/>
          <p:cNvSpPr/>
          <p:nvPr/>
        </p:nvSpPr>
        <p:spPr>
          <a:xfrm>
            <a:off x="661475" y="4667151"/>
            <a:ext cx="5251517" cy="457200"/>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3D3E44"/>
                </a:solidFill>
                <a:latin typeface="Inter Light" pitchFamily="34" charset="0"/>
                <a:ea typeface="Inter Light" pitchFamily="34" charset="-122"/>
                <a:cs typeface="Inter Light" pitchFamily="34" charset="-120"/>
              </a:rPr>
              <a:t>Most products have much lower prices, but some high-end products are extreme outliers:</a:t>
            </a:r>
            <a:endParaRPr lang="en-US" sz="1150" dirty="0"/>
          </a:p>
        </p:txBody>
      </p:sp>
      <p:sp>
        <p:nvSpPr>
          <p:cNvPr id="10" name="Text 8"/>
          <p:cNvSpPr/>
          <p:nvPr/>
        </p:nvSpPr>
        <p:spPr>
          <a:xfrm>
            <a:off x="661475" y="5246588"/>
            <a:ext cx="5251517" cy="504726"/>
          </a:xfrm>
          <a:prstGeom prst="rect">
            <a:avLst/>
          </a:prstGeom>
          <a:noFill/>
          <a:ln/>
        </p:spPr>
        <p:txBody>
          <a:bodyPr wrap="square" lIns="0" tIns="0" rIns="0" bIns="0" rtlCol="0" anchor="t">
            <a:normAutofit/>
          </a:bodyPr>
          <a:lstStyle/>
          <a:p>
            <a:pPr algn="l" marL="233680" indent="-233680">
              <a:lnSpc>
                <a:spcPct val="127000"/>
              </a:lnSpc>
              <a:buSzPct val="100000"/>
              <a:buChar char="•"/>
            </a:pPr>
            <a:r>
              <a:rPr lang="en-US" sz="1150" b="1" dirty="0">
                <a:solidFill>
                  <a:srgbClr val="3D3E44"/>
                </a:solidFill>
                <a:latin typeface="Inter Bold" pitchFamily="34" charset="0"/>
                <a:ea typeface="Inter Bold" pitchFamily="34" charset="-122"/>
                <a:cs typeface="Inter Bold" pitchFamily="34" charset="-120"/>
              </a:rPr>
              <a:t>Highest original price:</a:t>
            </a:r>
            <a:pPr algn="l" marL="233680" indent="-233680">
              <a:lnSpc>
                <a:spcPct val="127000"/>
              </a:lnSpc>
              <a:buSzPct val="100000"/>
              <a:buChar char="•"/>
            </a:pPr>
            <a:r>
              <a:rPr lang="en-US" sz="1150" dirty="0">
                <a:solidFill>
                  <a:srgbClr val="3D3E44"/>
                </a:solidFill>
                <a:latin typeface="Inter Light" pitchFamily="34" charset="0"/>
                <a:ea typeface="Inter Light" pitchFamily="34" charset="-122"/>
                <a:cs typeface="Inter Light" pitchFamily="34" charset="-120"/>
              </a:rPr>
              <a:t> ₹139,900 — Sony Bravia 65" TV</a:t>
            </a:r>
            <a:endParaRPr lang="en-US" sz="1150" dirty="0"/>
          </a:p>
          <a:p>
            <a:pPr algn="l" marL="233680" indent="-233680">
              <a:lnSpc>
                <a:spcPct val="127000"/>
              </a:lnSpc>
              <a:buSzPct val="100000"/>
              <a:buChar char="•"/>
            </a:pPr>
            <a:r>
              <a:rPr lang="en-US" sz="1150" dirty="0">
                <a:solidFill>
                  <a:srgbClr val="3D3E44"/>
                </a:solidFill>
                <a:latin typeface="Inter Light" pitchFamily="34" charset="0"/>
                <a:ea typeface="Inter Light" pitchFamily="34" charset="-122"/>
                <a:cs typeface="Inter Light" pitchFamily="34" charset="-120"/>
              </a:rPr>
              <a:t>Other TVs and ACs reach ₹75,000–₹85,000+</a:t>
            </a:r>
            <a:endParaRPr lang="en-US" sz="1150" dirty="0"/>
          </a:p>
        </p:txBody>
      </p:sp>
      <p:sp>
        <p:nvSpPr>
          <p:cNvPr id="11" name="Shape 9"/>
          <p:cNvSpPr/>
          <p:nvPr/>
        </p:nvSpPr>
        <p:spPr>
          <a:xfrm>
            <a:off x="6177106" y="1979216"/>
            <a:ext cx="5467412" cy="4249638"/>
          </a:xfrm>
          <a:prstGeom prst="roundRect">
            <a:avLst>
              <a:gd name="adj" fmla="val 5079"/>
            </a:avLst>
          </a:prstGeom>
          <a:solidFill>
            <a:srgbClr val="C6C9DC"/>
          </a:solidFill>
          <a:ln/>
        </p:spPr>
      </p:sp>
      <p:sp>
        <p:nvSpPr>
          <p:cNvPr id="12" name="Text 10"/>
          <p:cNvSpPr/>
          <p:nvPr/>
        </p:nvSpPr>
        <p:spPr>
          <a:xfrm>
            <a:off x="6326922" y="2115046"/>
            <a:ext cx="5167779" cy="240506"/>
          </a:xfrm>
          <a:prstGeom prst="rect">
            <a:avLst/>
          </a:prstGeom>
          <a:noFill/>
          <a:ln/>
        </p:spPr>
        <p:txBody>
          <a:bodyPr wrap="none" lIns="0" tIns="0" rIns="0" bIns="0" rtlCol="0" anchor="t"/>
          <a:lstStyle/>
          <a:p>
            <a:pPr algn="l" indent="0" marL="0">
              <a:lnSpc>
                <a:spcPct val="104000"/>
              </a:lnSpc>
              <a:buNone/>
            </a:pPr>
            <a:r>
              <a:rPr lang="en-US" sz="14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450" dirty="0">
                <a:solidFill>
                  <a:srgbClr val="000000"/>
                </a:solidFill>
                <a:latin typeface="Montserrat Medium" pitchFamily="34" charset="0"/>
                <a:ea typeface="Montserrat Medium" pitchFamily="34" charset="-122"/>
                <a:cs typeface="Montserrat Medium" pitchFamily="34" charset="-120"/>
              </a:rPr>
              <a:t> Very High Discounts</a:t>
            </a:r>
            <a:endParaRPr lang="en-US" sz="1450" dirty="0"/>
          </a:p>
        </p:txBody>
      </p:sp>
      <p:sp>
        <p:nvSpPr>
          <p:cNvPr id="13" name="Text 11"/>
          <p:cNvSpPr/>
          <p:nvPr/>
        </p:nvSpPr>
        <p:spPr>
          <a:xfrm>
            <a:off x="6326922" y="2491383"/>
            <a:ext cx="5167779" cy="457200"/>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3D3E44"/>
                </a:solidFill>
                <a:latin typeface="Inter Light" pitchFamily="34" charset="0"/>
                <a:ea typeface="Inter Light" pitchFamily="34" charset="-122"/>
                <a:cs typeface="Inter Light" pitchFamily="34" charset="-120"/>
              </a:rPr>
              <a:t>A few products have discounts above 90%, substantially above the typical 50% level. These should be flagged as potential pricing anomalies:</a:t>
            </a:r>
            <a:endParaRPr lang="en-US" sz="1150" dirty="0"/>
          </a:p>
        </p:txBody>
      </p:sp>
      <p:sp>
        <p:nvSpPr>
          <p:cNvPr id="14" name="Text 12"/>
          <p:cNvSpPr/>
          <p:nvPr/>
        </p:nvSpPr>
        <p:spPr>
          <a:xfrm>
            <a:off x="6326922" y="3070820"/>
            <a:ext cx="5167779" cy="504726"/>
          </a:xfrm>
          <a:prstGeom prst="rect">
            <a:avLst/>
          </a:prstGeom>
          <a:noFill/>
          <a:ln/>
        </p:spPr>
        <p:txBody>
          <a:bodyPr wrap="square" lIns="0" tIns="0" rIns="0" bIns="0" rtlCol="0" anchor="t">
            <a:normAutofit/>
          </a:bodyPr>
          <a:lstStyle/>
          <a:p>
            <a:pPr algn="l" marL="233680" indent="-233680">
              <a:lnSpc>
                <a:spcPct val="127000"/>
              </a:lnSpc>
              <a:buSzPct val="100000"/>
              <a:buChar char="•"/>
            </a:pPr>
            <a:r>
              <a:rPr lang="en-US" sz="1150" b="1" dirty="0">
                <a:solidFill>
                  <a:srgbClr val="3D3E44"/>
                </a:solidFill>
                <a:latin typeface="Inter Bold" pitchFamily="34" charset="0"/>
                <a:ea typeface="Inter Bold" pitchFamily="34" charset="-122"/>
                <a:cs typeface="Inter Bold" pitchFamily="34" charset="-120"/>
              </a:rPr>
              <a:t>USB-C adapter:</a:t>
            </a:r>
            <a:pPr algn="l" marL="233680" indent="-233680">
              <a:lnSpc>
                <a:spcPct val="127000"/>
              </a:lnSpc>
              <a:buSzPct val="100000"/>
              <a:buChar char="•"/>
            </a:pPr>
            <a:r>
              <a:rPr lang="en-US" sz="1150" dirty="0">
                <a:solidFill>
                  <a:srgbClr val="3D3E44"/>
                </a:solidFill>
                <a:latin typeface="Inter Light" pitchFamily="34" charset="0"/>
                <a:ea typeface="Inter Light" pitchFamily="34" charset="-122"/>
                <a:cs typeface="Inter Light" pitchFamily="34" charset="-120"/>
              </a:rPr>
              <a:t> 94% discount</a:t>
            </a:r>
            <a:endParaRPr lang="en-US" sz="1150" dirty="0"/>
          </a:p>
          <a:p>
            <a:pPr algn="l" marL="233680" indent="-233680">
              <a:lnSpc>
                <a:spcPct val="127000"/>
              </a:lnSpc>
              <a:buSzPct val="100000"/>
              <a:buChar char="•"/>
            </a:pPr>
            <a:r>
              <a:rPr lang="en-US" sz="1150" b="1" dirty="0">
                <a:solidFill>
                  <a:srgbClr val="3D3E44"/>
                </a:solidFill>
                <a:latin typeface="Inter Bold" pitchFamily="34" charset="0"/>
                <a:ea typeface="Inter Bold" pitchFamily="34" charset="-122"/>
                <a:cs typeface="Inter Bold" pitchFamily="34" charset="-120"/>
              </a:rPr>
              <a:t>Fire-Boltt smartwatch:</a:t>
            </a:r>
            <a:pPr algn="l" marL="233680" indent="-233680">
              <a:lnSpc>
                <a:spcPct val="127000"/>
              </a:lnSpc>
              <a:buSzPct val="100000"/>
              <a:buChar char="•"/>
            </a:pPr>
            <a:r>
              <a:rPr lang="en-US" sz="1150" dirty="0">
                <a:solidFill>
                  <a:srgbClr val="3D3E44"/>
                </a:solidFill>
                <a:latin typeface="Inter Light" pitchFamily="34" charset="0"/>
                <a:ea typeface="Inter Light" pitchFamily="34" charset="-122"/>
                <a:cs typeface="Inter Light" pitchFamily="34" charset="-120"/>
              </a:rPr>
              <a:t> 91% discount</a:t>
            </a:r>
            <a:endParaRPr lang="en-US" sz="1150" dirty="0"/>
          </a:p>
        </p:txBody>
      </p:sp>
      <p:sp>
        <p:nvSpPr>
          <p:cNvPr id="15" name="Text 13"/>
          <p:cNvSpPr/>
          <p:nvPr/>
        </p:nvSpPr>
        <p:spPr>
          <a:xfrm>
            <a:off x="6326922" y="3711377"/>
            <a:ext cx="5167779" cy="240506"/>
          </a:xfrm>
          <a:prstGeom prst="rect">
            <a:avLst/>
          </a:prstGeom>
          <a:noFill/>
          <a:ln/>
        </p:spPr>
        <p:txBody>
          <a:bodyPr wrap="none" lIns="0" tIns="0" rIns="0" bIns="0" rtlCol="0" anchor="t"/>
          <a:lstStyle/>
          <a:p>
            <a:pPr algn="l" indent="0" marL="0">
              <a:lnSpc>
                <a:spcPct val="104000"/>
              </a:lnSpc>
              <a:buNone/>
            </a:pPr>
            <a:r>
              <a:rPr lang="en-US" sz="14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450" dirty="0">
                <a:solidFill>
                  <a:srgbClr val="000000"/>
                </a:solidFill>
                <a:latin typeface="Montserrat Medium" pitchFamily="34" charset="0"/>
                <a:ea typeface="Montserrat Medium" pitchFamily="34" charset="-122"/>
                <a:cs typeface="Montserrat Medium" pitchFamily="34" charset="-120"/>
              </a:rPr>
              <a:t> Duplicate-Looking Products</a:t>
            </a:r>
            <a:endParaRPr lang="en-US" sz="1450" dirty="0"/>
          </a:p>
        </p:txBody>
      </p:sp>
      <p:sp>
        <p:nvSpPr>
          <p:cNvPr id="16" name="Text 14"/>
          <p:cNvSpPr/>
          <p:nvPr/>
        </p:nvSpPr>
        <p:spPr>
          <a:xfrm>
            <a:off x="6326922" y="4087713"/>
            <a:ext cx="5167779" cy="914400"/>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3D3E44"/>
                </a:solidFill>
                <a:latin typeface="Inter Light" pitchFamily="34" charset="0"/>
                <a:ea typeface="Inter Light" pitchFamily="34" charset="-122"/>
                <a:cs typeface="Inter Light" pitchFamily="34" charset="-120"/>
              </a:rPr>
              <a:t>Repeated or similar product records appear throughout the dataset, particularly among highly reviewed products. For example, the same AmazonBasics HDMI product appears multiple times with essentially identical information. Duplicates distort:</a:t>
            </a:r>
            <a:endParaRPr lang="en-US" sz="1150" dirty="0"/>
          </a:p>
        </p:txBody>
      </p:sp>
      <p:sp>
        <p:nvSpPr>
          <p:cNvPr id="17" name="Text 15"/>
          <p:cNvSpPr/>
          <p:nvPr/>
        </p:nvSpPr>
        <p:spPr>
          <a:xfrm>
            <a:off x="6326922" y="5124351"/>
            <a:ext cx="5167779" cy="1056977"/>
          </a:xfrm>
          <a:prstGeom prst="rect">
            <a:avLst/>
          </a:prstGeom>
          <a:noFill/>
          <a:ln/>
        </p:spPr>
        <p:txBody>
          <a:bodyPr wrap="square" lIns="0" tIns="0" rIns="0" bIns="0" rtlCol="0" anchor="t">
            <a:normAutofit/>
          </a:bodyPr>
          <a:lstStyle/>
          <a:p>
            <a:pPr algn="l" marL="233680" indent="-233680">
              <a:lnSpc>
                <a:spcPct val="127000"/>
              </a:lnSpc>
              <a:buSzPct val="100000"/>
              <a:buChar char="•"/>
            </a:pPr>
            <a:r>
              <a:rPr lang="en-US" sz="1150" dirty="0">
                <a:solidFill>
                  <a:srgbClr val="3D3E44"/>
                </a:solidFill>
                <a:latin typeface="Inter Light" pitchFamily="34" charset="0"/>
                <a:ea typeface="Inter Light" pitchFamily="34" charset="-122"/>
                <a:cs typeface="Inter Light" pitchFamily="34" charset="-120"/>
              </a:rPr>
              <a:t>Product counts</a:t>
            </a:r>
            <a:endParaRPr lang="en-US" sz="1150" dirty="0"/>
          </a:p>
          <a:p>
            <a:pPr algn="l" marL="233680" indent="-233680">
              <a:lnSpc>
                <a:spcPct val="127000"/>
              </a:lnSpc>
              <a:buSzPct val="100000"/>
              <a:buChar char="•"/>
            </a:pPr>
            <a:r>
              <a:rPr lang="en-US" sz="1150" dirty="0">
                <a:solidFill>
                  <a:srgbClr val="3D3E44"/>
                </a:solidFill>
                <a:latin typeface="Inter Light" pitchFamily="34" charset="0"/>
                <a:ea typeface="Inter Light" pitchFamily="34" charset="-122"/>
                <a:cs typeface="Inter Light" pitchFamily="34" charset="-120"/>
              </a:rPr>
              <a:t>Average ratings</a:t>
            </a:r>
            <a:endParaRPr lang="en-US" sz="1150" dirty="0"/>
          </a:p>
          <a:p>
            <a:pPr algn="l" marL="233680" indent="-233680">
              <a:lnSpc>
                <a:spcPct val="127000"/>
              </a:lnSpc>
              <a:buSzPct val="100000"/>
              <a:buChar char="•"/>
            </a:pPr>
            <a:r>
              <a:rPr lang="en-US" sz="1150" dirty="0">
                <a:solidFill>
                  <a:srgbClr val="3D3E44"/>
                </a:solidFill>
                <a:latin typeface="Inter Light" pitchFamily="34" charset="0"/>
                <a:ea typeface="Inter Light" pitchFamily="34" charset="-122"/>
                <a:cs typeface="Inter Light" pitchFamily="34" charset="-120"/>
              </a:rPr>
              <a:t>Review counts</a:t>
            </a:r>
            <a:endParaRPr lang="en-US" sz="1150" dirty="0"/>
          </a:p>
          <a:p>
            <a:pPr algn="l" marL="233680" indent="-233680">
              <a:lnSpc>
                <a:spcPct val="127000"/>
              </a:lnSpc>
              <a:buSzPct val="100000"/>
              <a:buChar char="•"/>
            </a:pPr>
            <a:r>
              <a:rPr lang="en-US" sz="1150" dirty="0">
                <a:solidFill>
                  <a:srgbClr val="3D3E44"/>
                </a:solidFill>
                <a:latin typeface="Inter Light" pitchFamily="34" charset="0"/>
                <a:ea typeface="Inter Light" pitchFamily="34" charset="-122"/>
                <a:cs typeface="Inter Light" pitchFamily="34" charset="-120"/>
              </a:rPr>
              <a:t>Category analysis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454819"/>
            <a:ext cx="10868745" cy="258465"/>
          </a:xfrm>
          <a:prstGeom prst="rect">
            <a:avLst/>
          </a:prstGeom>
          <a:noFill/>
          <a:ln/>
        </p:spPr>
        <p:txBody>
          <a:bodyPr wrap="none" lIns="0" tIns="0" rIns="0" bIns="0" rtlCol="0" anchor="t"/>
          <a:lstStyle/>
          <a:p>
            <a:pPr algn="l" indent="0" marL="0">
              <a:lnSpc>
                <a:spcPct val="104000"/>
              </a:lnSpc>
              <a:buNone/>
            </a:pPr>
            <a:r>
              <a:rPr lang="en-US" sz="1600" dirty="0">
                <a:solidFill>
                  <a:srgbClr val="74767D"/>
                </a:solidFill>
                <a:latin typeface="Montserrat Medium" pitchFamily="34" charset="0"/>
                <a:ea typeface="Montserrat Medium" pitchFamily="34" charset="-122"/>
                <a:cs typeface="Montserrat Medium" pitchFamily="34" charset="-120"/>
              </a:rPr>
              <a:t>SWOT Analysis — Amazon Product Marketplace</a:t>
            </a:r>
            <a:endParaRPr lang="en-US" sz="1600" dirty="0"/>
          </a:p>
        </p:txBody>
      </p:sp>
      <p:sp>
        <p:nvSpPr>
          <p:cNvPr id="3" name="Text 1"/>
          <p:cNvSpPr/>
          <p:nvPr/>
        </p:nvSpPr>
        <p:spPr>
          <a:xfrm>
            <a:off x="661475" y="795933"/>
            <a:ext cx="11478330" cy="99120"/>
          </a:xfrm>
          <a:prstGeom prst="rect">
            <a:avLst/>
          </a:prstGeom>
          <a:noFill/>
          <a:ln/>
        </p:spPr>
        <p:txBody>
          <a:bodyPr wrap="none" lIns="0" tIns="0" rIns="0" bIns="0" rtlCol="0" anchor="t"/>
          <a:lstStyle/>
          <a:p>
            <a:pPr algn="l" indent="0" marL="0">
              <a:lnSpc>
                <a:spcPct val="100000"/>
              </a:lnSpc>
              <a:buNone/>
            </a:pPr>
            <a:r>
              <a:rPr lang="en-US" sz="650" dirty="0">
                <a:solidFill>
                  <a:srgbClr val="3D3E44"/>
                </a:solidFill>
                <a:latin typeface="Inter Light" pitchFamily="34" charset="0"/>
                <a:ea typeface="Inter Light" pitchFamily="34" charset="-122"/>
                <a:cs typeface="Inter Light" pitchFamily="34" charset="-120"/>
              </a:rPr>
              <a:t>Based on the 1,465 product records, this SWOT analysis frames findings as business implications and hypotheses. </a:t>
            </a:r>
            <a:pPr algn="l" indent="0" marL="0">
              <a:lnSpc>
                <a:spcPct val="100000"/>
              </a:lnSpc>
              <a:buNone/>
            </a:pPr>
            <a:r>
              <a:rPr lang="en-US" sz="650" b="1" dirty="0">
                <a:solidFill>
                  <a:srgbClr val="3D3E44"/>
                </a:solidFill>
                <a:latin typeface="Inter Bold" pitchFamily="34" charset="0"/>
                <a:ea typeface="Inter Bold" pitchFamily="34" charset="-122"/>
                <a:cs typeface="Inter Bold" pitchFamily="34" charset="-120"/>
              </a:rPr>
              <a:t>Note:</a:t>
            </a:r>
            <a:pPr algn="l" indent="0" marL="0">
              <a:lnSpc>
                <a:spcPct val="100000"/>
              </a:lnSpc>
              <a:buNone/>
            </a:pPr>
            <a:r>
              <a:rPr lang="en-US" sz="650" dirty="0">
                <a:solidFill>
                  <a:srgbClr val="3D3E44"/>
                </a:solidFill>
                <a:latin typeface="Inter Light" pitchFamily="34" charset="0"/>
                <a:ea typeface="Inter Light" pitchFamily="34" charset="-122"/>
                <a:cs typeface="Inter Light" pitchFamily="34" charset="-120"/>
              </a:rPr>
              <a:t> Without revenue, units sold, or profit data, these should not be interpreted as proven financial outcomes.</a:t>
            </a:r>
            <a:endParaRPr lang="en-US" sz="650" dirty="0"/>
          </a:p>
        </p:txBody>
      </p:sp>
      <p:pic>
        <p:nvPicPr>
          <p:cNvPr id="4" name="Image 0" descr="preencoded.png">    </p:cNvPr>
          <p:cNvPicPr>
            <a:picLocks noChangeAspect="1"/>
          </p:cNvPicPr>
          <p:nvPr/>
        </p:nvPicPr>
        <p:blipFill>
          <a:blip r:embed="rId1"/>
          <a:stretch>
            <a:fillRect/>
          </a:stretch>
        </p:blipFill>
        <p:spPr>
          <a:xfrm>
            <a:off x="661475" y="941487"/>
            <a:ext cx="9753356" cy="5486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485279"/>
            <a:ext cx="10868745" cy="452239"/>
          </a:xfrm>
          <a:prstGeom prst="rect">
            <a:avLst/>
          </a:prstGeom>
          <a:noFill/>
          <a:ln/>
        </p:spPr>
        <p:txBody>
          <a:bodyPr wrap="none" lIns="0" tIns="0" rIns="0" bIns="0" rtlCol="0" anchor="t"/>
          <a:lstStyle/>
          <a:p>
            <a:pPr algn="l" indent="0" marL="0">
              <a:lnSpc>
                <a:spcPct val="104000"/>
              </a:lnSpc>
              <a:buNone/>
            </a:pPr>
            <a:r>
              <a:rPr lang="en-US" sz="2800" dirty="0">
                <a:solidFill>
                  <a:srgbClr val="74767D"/>
                </a:solidFill>
                <a:latin typeface="Montserrat Medium" pitchFamily="34" charset="0"/>
                <a:ea typeface="Montserrat Medium" pitchFamily="34" charset="-122"/>
                <a:cs typeface="Montserrat Medium" pitchFamily="34" charset="-120"/>
              </a:rPr>
              <a:t>Reactive Case Studies</a:t>
            </a:r>
            <a:endParaRPr lang="en-US" sz="2800" dirty="0"/>
          </a:p>
        </p:txBody>
      </p:sp>
      <p:sp>
        <p:nvSpPr>
          <p:cNvPr id="3" name="Text 1"/>
          <p:cNvSpPr/>
          <p:nvPr/>
        </p:nvSpPr>
        <p:spPr>
          <a:xfrm>
            <a:off x="661475" y="1190724"/>
            <a:ext cx="11478330" cy="217091"/>
          </a:xfrm>
          <a:prstGeom prst="rect">
            <a:avLst/>
          </a:prstGeom>
          <a:noFill/>
          <a:ln/>
        </p:spPr>
        <p:txBody>
          <a:bodyPr wrap="none" lIns="0" tIns="0" rIns="0" bIns="0" rtlCol="0" anchor="t"/>
          <a:lstStyle/>
          <a:p>
            <a:pPr algn="l" indent="0" marL="0">
              <a:lnSpc>
                <a:spcPct val="125000"/>
              </a:lnSpc>
              <a:buNone/>
            </a:pPr>
            <a:r>
              <a:rPr lang="en-US" sz="1100" dirty="0">
                <a:solidFill>
                  <a:srgbClr val="3D3E44"/>
                </a:solidFill>
                <a:latin typeface="Inter Light" pitchFamily="34" charset="0"/>
                <a:ea typeface="Inter Light" pitchFamily="34" charset="-122"/>
                <a:cs typeface="Inter Light" pitchFamily="34" charset="-120"/>
              </a:rPr>
              <a:t>Four reactive scenarios translate SWOT findings into concrete business actions. Each addresses a specific anomaly or trend requiring immediate attention.</a:t>
            </a:r>
            <a:endParaRPr lang="en-US" sz="11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550194"/>
            <a:ext cx="5371073" cy="2347913"/>
          </a:xfrm>
          <a:prstGeom prst="rect">
            <a:avLst/>
          </a:prstGeom>
        </p:spPr>
      </p:pic>
      <p:sp>
        <p:nvSpPr>
          <p:cNvPr id="5" name="Text 2"/>
          <p:cNvSpPr/>
          <p:nvPr/>
        </p:nvSpPr>
        <p:spPr>
          <a:xfrm>
            <a:off x="3238518" y="1647428"/>
            <a:ext cx="216986" cy="271264"/>
          </a:xfrm>
          <a:prstGeom prst="rect">
            <a:avLst/>
          </a:prstGeom>
          <a:noFill/>
          <a:ln/>
        </p:spPr>
        <p:txBody>
          <a:bodyPr wrap="none" lIns="0" tIns="0" rIns="0" bIns="0" rtlCol="0" anchor="ctr"/>
          <a:lstStyle/>
          <a:p>
            <a:pPr algn="ctr" indent="0" marL="0">
              <a:lnSpc>
                <a:spcPct val="100000"/>
              </a:lnSpc>
              <a:buNone/>
            </a:pPr>
            <a:r>
              <a:rPr lang="en-US" sz="1700" dirty="0">
                <a:solidFill>
                  <a:srgbClr val="3D3E44"/>
                </a:solidFill>
                <a:latin typeface="Montserrat Medium" pitchFamily="34" charset="0"/>
                <a:ea typeface="Montserrat Medium" pitchFamily="34" charset="-122"/>
                <a:cs typeface="Montserrat Medium" pitchFamily="34" charset="-120"/>
              </a:rPr>
              <a:t>1</a:t>
            </a:r>
            <a:endParaRPr lang="en-US" sz="1700" dirty="0"/>
          </a:p>
        </p:txBody>
      </p:sp>
      <p:sp>
        <p:nvSpPr>
          <p:cNvPr id="6" name="Text 3"/>
          <p:cNvSpPr/>
          <p:nvPr/>
        </p:nvSpPr>
        <p:spPr>
          <a:xfrm>
            <a:off x="825182" y="2129929"/>
            <a:ext cx="5043659" cy="226020"/>
          </a:xfrm>
          <a:prstGeom prst="rect">
            <a:avLst/>
          </a:prstGeom>
          <a:noFill/>
          <a:ln/>
        </p:spPr>
        <p:txBody>
          <a:bodyPr wrap="none" lIns="0" tIns="0" rIns="0" bIns="0" rtlCol="0" anchor="t"/>
          <a:lstStyle/>
          <a:p>
            <a:pPr algn="l" indent="0" marL="0">
              <a:lnSpc>
                <a:spcPct val="104000"/>
              </a:lnSpc>
              <a:buNone/>
            </a:pPr>
            <a:r>
              <a:rPr lang="en-US" sz="1400" dirty="0">
                <a:solidFill>
                  <a:srgbClr val="3D3E44"/>
                </a:solidFill>
                <a:latin typeface="Montserrat Medium" pitchFamily="34" charset="0"/>
                <a:ea typeface="Montserrat Medium" pitchFamily="34" charset="-122"/>
                <a:cs typeface="Montserrat Medium" pitchFamily="34" charset="-120"/>
              </a:rPr>
              <a:t>High Discounts</a:t>
            </a:r>
            <a:endParaRPr lang="en-US" sz="1400" dirty="0"/>
          </a:p>
        </p:txBody>
      </p:sp>
      <p:sp>
        <p:nvSpPr>
          <p:cNvPr id="7" name="Text 4"/>
          <p:cNvSpPr/>
          <p:nvPr/>
        </p:nvSpPr>
        <p:spPr>
          <a:xfrm>
            <a:off x="825182" y="2431852"/>
            <a:ext cx="5043659" cy="1085453"/>
          </a:xfrm>
          <a:prstGeom prst="rect">
            <a:avLst/>
          </a:prstGeom>
          <a:noFill/>
          <a:ln/>
        </p:spPr>
        <p:txBody>
          <a:bodyPr wrap="square" lIns="0" tIns="0" rIns="0" bIns="0" rtlCol="0" anchor="t">
            <a:normAutofit/>
          </a:bodyPr>
          <a:lstStyle/>
          <a:p>
            <a:pPr algn="l" indent="0" marL="0">
              <a:lnSpc>
                <a:spcPct val="125000"/>
              </a:lnSpc>
              <a:buNone/>
            </a:pPr>
            <a:r>
              <a:rPr lang="en-US" sz="1100" dirty="0">
                <a:solidFill>
                  <a:srgbClr val="3D3E44"/>
                </a:solidFill>
                <a:latin typeface="Inter Light" pitchFamily="34" charset="0"/>
                <a:ea typeface="Inter Light" pitchFamily="34" charset="-122"/>
                <a:cs typeface="Inter Light" pitchFamily="34" charset="-120"/>
              </a:rPr>
              <a:t>Average discount is ~47.7%, with some products exceeding 90%. </a:t>
            </a:r>
            <a:pPr algn="l" indent="0" marL="0">
              <a:lnSpc>
                <a:spcPct val="125000"/>
              </a:lnSpc>
              <a:buNone/>
            </a:pPr>
            <a:r>
              <a:rPr lang="en-US" sz="1100" b="1" dirty="0">
                <a:solidFill>
                  <a:srgbClr val="3D3E44"/>
                </a:solidFill>
                <a:latin typeface="Inter Bold" pitchFamily="34" charset="0"/>
                <a:ea typeface="Inter Bold" pitchFamily="34" charset="-122"/>
                <a:cs typeface="Inter Bold" pitchFamily="34" charset="-120"/>
              </a:rPr>
              <a:t>Actions:</a:t>
            </a:r>
            <a:pPr algn="l" indent="0" marL="0">
              <a:lnSpc>
                <a:spcPct val="125000"/>
              </a:lnSpc>
              <a:buNone/>
            </a:pPr>
            <a:r>
              <a:rPr lang="en-US" sz="1100" dirty="0">
                <a:solidFill>
                  <a:srgbClr val="3D3E44"/>
                </a:solidFill>
                <a:latin typeface="Inter Light" pitchFamily="34" charset="0"/>
                <a:ea typeface="Inter Light" pitchFamily="34" charset="-122"/>
                <a:cs typeface="Inter Light" pitchFamily="34" charset="-120"/>
              </a:rPr>
              <a:t> Investigate whether extreme discounts are genuine; identify products where discounts reduce profitability; introduce discount thresholds; focus promotions on products where discounts increase demand. </a:t>
            </a:r>
            <a:pPr algn="l" indent="0" marL="0">
              <a:lnSpc>
                <a:spcPct val="125000"/>
              </a:lnSpc>
              <a:buNone/>
            </a:pPr>
            <a:r>
              <a:rPr lang="en-US" sz="1100" b="1" dirty="0">
                <a:solidFill>
                  <a:srgbClr val="3D3E44"/>
                </a:solidFill>
                <a:latin typeface="Inter Bold" pitchFamily="34" charset="0"/>
                <a:ea typeface="Inter Bold" pitchFamily="34" charset="-122"/>
                <a:cs typeface="Inter Bold" pitchFamily="34" charset="-120"/>
              </a:rPr>
              <a:t>Expected result:</a:t>
            </a:r>
            <a:pPr algn="l" indent="0" marL="0">
              <a:lnSpc>
                <a:spcPct val="125000"/>
              </a:lnSpc>
              <a:buNone/>
            </a:pPr>
            <a:r>
              <a:rPr lang="en-US" sz="1100" dirty="0">
                <a:solidFill>
                  <a:srgbClr val="3D3E44"/>
                </a:solidFill>
                <a:latin typeface="Inter Light" pitchFamily="34" charset="0"/>
                <a:ea typeface="Inter Light" pitchFamily="34" charset="-122"/>
                <a:cs typeface="Inter Light" pitchFamily="34" charset="-120"/>
              </a:rPr>
              <a:t> Better balance between sales attractiveness and profitability.</a:t>
            </a:r>
            <a:endParaRPr lang="en-US" sz="11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59147" y="1550194"/>
            <a:ext cx="5371073" cy="2347913"/>
          </a:xfrm>
          <a:prstGeom prst="rect">
            <a:avLst/>
          </a:prstGeom>
        </p:spPr>
      </p:pic>
      <p:sp>
        <p:nvSpPr>
          <p:cNvPr id="9" name="Text 5"/>
          <p:cNvSpPr/>
          <p:nvPr/>
        </p:nvSpPr>
        <p:spPr>
          <a:xfrm>
            <a:off x="8736191" y="1647428"/>
            <a:ext cx="216986" cy="271264"/>
          </a:xfrm>
          <a:prstGeom prst="rect">
            <a:avLst/>
          </a:prstGeom>
          <a:noFill/>
          <a:ln/>
        </p:spPr>
        <p:txBody>
          <a:bodyPr wrap="none" lIns="0" tIns="0" rIns="0" bIns="0" rtlCol="0" anchor="ctr"/>
          <a:lstStyle/>
          <a:p>
            <a:pPr algn="ctr" indent="0" marL="0">
              <a:lnSpc>
                <a:spcPct val="100000"/>
              </a:lnSpc>
              <a:buNone/>
            </a:pPr>
            <a:r>
              <a:rPr lang="en-US" sz="1700" dirty="0">
                <a:solidFill>
                  <a:srgbClr val="3D3E44"/>
                </a:solidFill>
                <a:latin typeface="Montserrat Medium" pitchFamily="34" charset="0"/>
                <a:ea typeface="Montserrat Medium" pitchFamily="34" charset="-122"/>
                <a:cs typeface="Montserrat Medium" pitchFamily="34" charset="-120"/>
              </a:rPr>
              <a:t>2</a:t>
            </a:r>
            <a:endParaRPr lang="en-US" sz="1700" dirty="0"/>
          </a:p>
        </p:txBody>
      </p:sp>
      <p:sp>
        <p:nvSpPr>
          <p:cNvPr id="10" name="Text 6"/>
          <p:cNvSpPr/>
          <p:nvPr/>
        </p:nvSpPr>
        <p:spPr>
          <a:xfrm>
            <a:off x="6322854" y="2129929"/>
            <a:ext cx="5043659" cy="226020"/>
          </a:xfrm>
          <a:prstGeom prst="rect">
            <a:avLst/>
          </a:prstGeom>
          <a:noFill/>
          <a:ln/>
        </p:spPr>
        <p:txBody>
          <a:bodyPr wrap="none" lIns="0" tIns="0" rIns="0" bIns="0" rtlCol="0" anchor="t"/>
          <a:lstStyle/>
          <a:p>
            <a:pPr algn="l" indent="0" marL="0">
              <a:lnSpc>
                <a:spcPct val="104000"/>
              </a:lnSpc>
              <a:buNone/>
            </a:pPr>
            <a:r>
              <a:rPr lang="en-US" sz="1400" dirty="0">
                <a:solidFill>
                  <a:srgbClr val="3D3E44"/>
                </a:solidFill>
                <a:latin typeface="Montserrat Medium" pitchFamily="34" charset="0"/>
                <a:ea typeface="Montserrat Medium" pitchFamily="34" charset="-122"/>
                <a:cs typeface="Montserrat Medium" pitchFamily="34" charset="-120"/>
              </a:rPr>
              <a:t>Review Outliers</a:t>
            </a:r>
            <a:endParaRPr lang="en-US" sz="1400" dirty="0"/>
          </a:p>
        </p:txBody>
      </p:sp>
      <p:sp>
        <p:nvSpPr>
          <p:cNvPr id="11" name="Text 7"/>
          <p:cNvSpPr/>
          <p:nvPr/>
        </p:nvSpPr>
        <p:spPr>
          <a:xfrm>
            <a:off x="6322854" y="2431852"/>
            <a:ext cx="5043659" cy="1302544"/>
          </a:xfrm>
          <a:prstGeom prst="rect">
            <a:avLst/>
          </a:prstGeom>
          <a:noFill/>
          <a:ln/>
        </p:spPr>
        <p:txBody>
          <a:bodyPr wrap="square" lIns="0" tIns="0" rIns="0" bIns="0" rtlCol="0" anchor="t">
            <a:normAutofit/>
          </a:bodyPr>
          <a:lstStyle/>
          <a:p>
            <a:pPr algn="l" indent="0" marL="0">
              <a:lnSpc>
                <a:spcPct val="125000"/>
              </a:lnSpc>
              <a:buNone/>
            </a:pPr>
            <a:r>
              <a:rPr lang="en-US" sz="1100" dirty="0">
                <a:solidFill>
                  <a:srgbClr val="3D3E44"/>
                </a:solidFill>
                <a:latin typeface="Inter Light" pitchFamily="34" charset="0"/>
                <a:ea typeface="Inter Light" pitchFamily="34" charset="-122"/>
                <a:cs typeface="Inter Light" pitchFamily="34" charset="-120"/>
              </a:rPr>
              <a:t>Some products have hundreds of thousands of ratings, dramatically higher than the typical product. </a:t>
            </a:r>
            <a:pPr algn="l" indent="0" marL="0">
              <a:lnSpc>
                <a:spcPct val="125000"/>
              </a:lnSpc>
              <a:buNone/>
            </a:pPr>
            <a:r>
              <a:rPr lang="en-US" sz="1100" b="1" dirty="0">
                <a:solidFill>
                  <a:srgbClr val="3D3E44"/>
                </a:solidFill>
                <a:latin typeface="Inter Bold" pitchFamily="34" charset="0"/>
                <a:ea typeface="Inter Bold" pitchFamily="34" charset="-122"/>
                <a:cs typeface="Inter Bold" pitchFamily="34" charset="-120"/>
              </a:rPr>
              <a:t>Actions:</a:t>
            </a:r>
            <a:pPr algn="l" indent="0" marL="0">
              <a:lnSpc>
                <a:spcPct val="125000"/>
              </a:lnSpc>
              <a:buNone/>
            </a:pPr>
            <a:r>
              <a:rPr lang="en-US" sz="1100" dirty="0">
                <a:solidFill>
                  <a:srgbClr val="3D3E44"/>
                </a:solidFill>
                <a:latin typeface="Inter Light" pitchFamily="34" charset="0"/>
                <a:ea typeface="Inter Light" pitchFamily="34" charset="-122"/>
                <a:cs typeface="Inter Light" pitchFamily="34" charset="-120"/>
              </a:rPr>
              <a:t> Identify what makes these products successful; analyze their price, category, rating, and discount; use successful products as benchmarks; promote similar products with strong potential. </a:t>
            </a:r>
            <a:pPr algn="l" indent="0" marL="0">
              <a:lnSpc>
                <a:spcPct val="125000"/>
              </a:lnSpc>
              <a:buNone/>
            </a:pPr>
            <a:r>
              <a:rPr lang="en-US" sz="1100" b="1" dirty="0">
                <a:solidFill>
                  <a:srgbClr val="3D3E44"/>
                </a:solidFill>
                <a:latin typeface="Inter Bold" pitchFamily="34" charset="0"/>
                <a:ea typeface="Inter Bold" pitchFamily="34" charset="-122"/>
                <a:cs typeface="Inter Bold" pitchFamily="34" charset="-120"/>
              </a:rPr>
              <a:t>Expected result:</a:t>
            </a:r>
            <a:pPr algn="l" indent="0" marL="0">
              <a:lnSpc>
                <a:spcPct val="125000"/>
              </a:lnSpc>
              <a:buNone/>
            </a:pPr>
            <a:r>
              <a:rPr lang="en-US" sz="1100" dirty="0">
                <a:solidFill>
                  <a:srgbClr val="3D3E44"/>
                </a:solidFill>
                <a:latin typeface="Inter Light" pitchFamily="34" charset="0"/>
                <a:ea typeface="Inter Light" pitchFamily="34" charset="-122"/>
                <a:cs typeface="Inter Light" pitchFamily="34" charset="-120"/>
              </a:rPr>
              <a:t> Turn high-performing products into a product strategy benchmark.</a:t>
            </a:r>
            <a:endParaRPr lang="en-US" sz="11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024709"/>
            <a:ext cx="5371073" cy="2347913"/>
          </a:xfrm>
          <a:prstGeom prst="rect">
            <a:avLst/>
          </a:prstGeom>
        </p:spPr>
      </p:pic>
      <p:sp>
        <p:nvSpPr>
          <p:cNvPr id="13" name="Text 8"/>
          <p:cNvSpPr/>
          <p:nvPr/>
        </p:nvSpPr>
        <p:spPr>
          <a:xfrm>
            <a:off x="3238518" y="4121944"/>
            <a:ext cx="216986" cy="271264"/>
          </a:xfrm>
          <a:prstGeom prst="rect">
            <a:avLst/>
          </a:prstGeom>
          <a:noFill/>
          <a:ln/>
        </p:spPr>
        <p:txBody>
          <a:bodyPr wrap="none" lIns="0" tIns="0" rIns="0" bIns="0" rtlCol="0" anchor="ctr"/>
          <a:lstStyle/>
          <a:p>
            <a:pPr algn="ctr" indent="0" marL="0">
              <a:lnSpc>
                <a:spcPct val="100000"/>
              </a:lnSpc>
              <a:buNone/>
            </a:pPr>
            <a:r>
              <a:rPr lang="en-US" sz="1700" dirty="0">
                <a:solidFill>
                  <a:srgbClr val="3D3E44"/>
                </a:solidFill>
                <a:latin typeface="Montserrat Medium" pitchFamily="34" charset="0"/>
                <a:ea typeface="Montserrat Medium" pitchFamily="34" charset="-122"/>
                <a:cs typeface="Montserrat Medium" pitchFamily="34" charset="-120"/>
              </a:rPr>
              <a:t>3</a:t>
            </a:r>
            <a:endParaRPr lang="en-US" sz="1700" dirty="0"/>
          </a:p>
        </p:txBody>
      </p:sp>
      <p:sp>
        <p:nvSpPr>
          <p:cNvPr id="14" name="Text 9"/>
          <p:cNvSpPr/>
          <p:nvPr/>
        </p:nvSpPr>
        <p:spPr>
          <a:xfrm>
            <a:off x="825182" y="4604445"/>
            <a:ext cx="5043659" cy="226020"/>
          </a:xfrm>
          <a:prstGeom prst="rect">
            <a:avLst/>
          </a:prstGeom>
          <a:noFill/>
          <a:ln/>
        </p:spPr>
        <p:txBody>
          <a:bodyPr wrap="none" lIns="0" tIns="0" rIns="0" bIns="0" rtlCol="0" anchor="t"/>
          <a:lstStyle/>
          <a:p>
            <a:pPr algn="l" indent="0" marL="0">
              <a:lnSpc>
                <a:spcPct val="104000"/>
              </a:lnSpc>
              <a:buNone/>
            </a:pPr>
            <a:r>
              <a:rPr lang="en-US" sz="1400" dirty="0">
                <a:solidFill>
                  <a:srgbClr val="3D3E44"/>
                </a:solidFill>
                <a:latin typeface="Montserrat Medium" pitchFamily="34" charset="0"/>
                <a:ea typeface="Montserrat Medium" pitchFamily="34" charset="-122"/>
                <a:cs typeface="Montserrat Medium" pitchFamily="34" charset="-120"/>
              </a:rPr>
              <a:t>Category Concentration</a:t>
            </a:r>
            <a:endParaRPr lang="en-US" sz="1400" dirty="0"/>
          </a:p>
        </p:txBody>
      </p:sp>
      <p:sp>
        <p:nvSpPr>
          <p:cNvPr id="15" name="Text 10"/>
          <p:cNvSpPr/>
          <p:nvPr/>
        </p:nvSpPr>
        <p:spPr>
          <a:xfrm>
            <a:off x="825182" y="4906367"/>
            <a:ext cx="5043659" cy="1085453"/>
          </a:xfrm>
          <a:prstGeom prst="rect">
            <a:avLst/>
          </a:prstGeom>
          <a:noFill/>
          <a:ln/>
        </p:spPr>
        <p:txBody>
          <a:bodyPr wrap="square" lIns="0" tIns="0" rIns="0" bIns="0" rtlCol="0" anchor="t">
            <a:normAutofit/>
          </a:bodyPr>
          <a:lstStyle/>
          <a:p>
            <a:pPr algn="l" indent="0" marL="0">
              <a:lnSpc>
                <a:spcPct val="125000"/>
              </a:lnSpc>
              <a:buNone/>
            </a:pPr>
            <a:r>
              <a:rPr lang="en-US" sz="1100" dirty="0">
                <a:solidFill>
                  <a:srgbClr val="3D3E44"/>
                </a:solidFill>
                <a:latin typeface="Inter Light" pitchFamily="34" charset="0"/>
                <a:ea typeface="Inter Light" pitchFamily="34" charset="-122"/>
                <a:cs typeface="Inter Light" pitchFamily="34" charset="-120"/>
              </a:rPr>
              <a:t>Electronics has 526 products, while Computers &amp; Accessories and Home &amp; Kitchen have 453 and 448 respectively. </a:t>
            </a:r>
            <a:pPr algn="l" indent="0" marL="0">
              <a:lnSpc>
                <a:spcPct val="125000"/>
              </a:lnSpc>
              <a:buNone/>
            </a:pPr>
            <a:r>
              <a:rPr lang="en-US" sz="1100" b="1" dirty="0">
                <a:solidFill>
                  <a:srgbClr val="3D3E44"/>
                </a:solidFill>
                <a:latin typeface="Inter Bold" pitchFamily="34" charset="0"/>
                <a:ea typeface="Inter Bold" pitchFamily="34" charset="-122"/>
                <a:cs typeface="Inter Bold" pitchFamily="34" charset="-120"/>
              </a:rPr>
              <a:t>Actions:</a:t>
            </a:r>
            <a:pPr algn="l" indent="0" marL="0">
              <a:lnSpc>
                <a:spcPct val="125000"/>
              </a:lnSpc>
              <a:buNone/>
            </a:pPr>
            <a:r>
              <a:rPr lang="en-US" sz="1100" dirty="0">
                <a:solidFill>
                  <a:srgbClr val="3D3E44"/>
                </a:solidFill>
                <a:latin typeface="Inter Light" pitchFamily="34" charset="0"/>
                <a:ea typeface="Inter Light" pitchFamily="34" charset="-122"/>
                <a:cs typeface="Inter Light" pitchFamily="34" charset="-120"/>
              </a:rPr>
              <a:t> Monitor category performance; identify underserved categories; diversify where sufficient customer demand exists; avoid over-reliance on a small number of product groups. </a:t>
            </a:r>
            <a:pPr algn="l" indent="0" marL="0">
              <a:lnSpc>
                <a:spcPct val="125000"/>
              </a:lnSpc>
              <a:buNone/>
            </a:pPr>
            <a:r>
              <a:rPr lang="en-US" sz="1100" b="1" dirty="0">
                <a:solidFill>
                  <a:srgbClr val="3D3E44"/>
                </a:solidFill>
                <a:latin typeface="Inter Bold" pitchFamily="34" charset="0"/>
                <a:ea typeface="Inter Bold" pitchFamily="34" charset="-122"/>
                <a:cs typeface="Inter Bold" pitchFamily="34" charset="-120"/>
              </a:rPr>
              <a:t>Expected result:</a:t>
            </a:r>
            <a:pPr algn="l" indent="0" marL="0">
              <a:lnSpc>
                <a:spcPct val="125000"/>
              </a:lnSpc>
              <a:buNone/>
            </a:pPr>
            <a:r>
              <a:rPr lang="en-US" sz="1100" dirty="0">
                <a:solidFill>
                  <a:srgbClr val="3D3E44"/>
                </a:solidFill>
                <a:latin typeface="Inter Light" pitchFamily="34" charset="0"/>
                <a:ea typeface="Inter Light" pitchFamily="34" charset="-122"/>
                <a:cs typeface="Inter Light" pitchFamily="34" charset="-120"/>
              </a:rPr>
              <a:t> A more balanced and resilient product portfolio.</a:t>
            </a:r>
            <a:endParaRPr lang="en-US" sz="110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59147" y="4024709"/>
            <a:ext cx="5371073" cy="2347913"/>
          </a:xfrm>
          <a:prstGeom prst="rect">
            <a:avLst/>
          </a:prstGeom>
        </p:spPr>
      </p:pic>
      <p:sp>
        <p:nvSpPr>
          <p:cNvPr id="17" name="Text 11"/>
          <p:cNvSpPr/>
          <p:nvPr/>
        </p:nvSpPr>
        <p:spPr>
          <a:xfrm>
            <a:off x="8736191" y="4121944"/>
            <a:ext cx="216986" cy="271264"/>
          </a:xfrm>
          <a:prstGeom prst="rect">
            <a:avLst/>
          </a:prstGeom>
          <a:noFill/>
          <a:ln/>
        </p:spPr>
        <p:txBody>
          <a:bodyPr wrap="none" lIns="0" tIns="0" rIns="0" bIns="0" rtlCol="0" anchor="ctr"/>
          <a:lstStyle/>
          <a:p>
            <a:pPr algn="ctr" indent="0" marL="0">
              <a:lnSpc>
                <a:spcPct val="100000"/>
              </a:lnSpc>
              <a:buNone/>
            </a:pPr>
            <a:r>
              <a:rPr lang="en-US" sz="1700" dirty="0">
                <a:solidFill>
                  <a:srgbClr val="3D3E44"/>
                </a:solidFill>
                <a:latin typeface="Montserrat Medium" pitchFamily="34" charset="0"/>
                <a:ea typeface="Montserrat Medium" pitchFamily="34" charset="-122"/>
                <a:cs typeface="Montserrat Medium" pitchFamily="34" charset="-120"/>
              </a:rPr>
              <a:t>4</a:t>
            </a:r>
            <a:endParaRPr lang="en-US" sz="1700" dirty="0"/>
          </a:p>
        </p:txBody>
      </p:sp>
      <p:sp>
        <p:nvSpPr>
          <p:cNvPr id="18" name="Text 12"/>
          <p:cNvSpPr/>
          <p:nvPr/>
        </p:nvSpPr>
        <p:spPr>
          <a:xfrm>
            <a:off x="6322854" y="4604445"/>
            <a:ext cx="5043659" cy="226020"/>
          </a:xfrm>
          <a:prstGeom prst="rect">
            <a:avLst/>
          </a:prstGeom>
          <a:noFill/>
          <a:ln/>
        </p:spPr>
        <p:txBody>
          <a:bodyPr wrap="none" lIns="0" tIns="0" rIns="0" bIns="0" rtlCol="0" anchor="t"/>
          <a:lstStyle/>
          <a:p>
            <a:pPr algn="l" indent="0" marL="0">
              <a:lnSpc>
                <a:spcPct val="104000"/>
              </a:lnSpc>
              <a:buNone/>
            </a:pPr>
            <a:r>
              <a:rPr lang="en-US" sz="1400" dirty="0">
                <a:solidFill>
                  <a:srgbClr val="3D3E44"/>
                </a:solidFill>
                <a:latin typeface="Montserrat Medium" pitchFamily="34" charset="0"/>
                <a:ea typeface="Montserrat Medium" pitchFamily="34" charset="-122"/>
                <a:cs typeface="Montserrat Medium" pitchFamily="34" charset="-120"/>
              </a:rPr>
              <a:t>Data Quality</a:t>
            </a:r>
            <a:endParaRPr lang="en-US" sz="1400" dirty="0"/>
          </a:p>
        </p:txBody>
      </p:sp>
      <p:sp>
        <p:nvSpPr>
          <p:cNvPr id="19" name="Text 13"/>
          <p:cNvSpPr/>
          <p:nvPr/>
        </p:nvSpPr>
        <p:spPr>
          <a:xfrm>
            <a:off x="6322854" y="4906367"/>
            <a:ext cx="5043659" cy="1302544"/>
          </a:xfrm>
          <a:prstGeom prst="rect">
            <a:avLst/>
          </a:prstGeom>
          <a:noFill/>
          <a:ln/>
        </p:spPr>
        <p:txBody>
          <a:bodyPr wrap="square" lIns="0" tIns="0" rIns="0" bIns="0" rtlCol="0" anchor="t">
            <a:normAutofit/>
          </a:bodyPr>
          <a:lstStyle/>
          <a:p>
            <a:pPr algn="l" indent="0" marL="0">
              <a:lnSpc>
                <a:spcPct val="125000"/>
              </a:lnSpc>
              <a:buNone/>
            </a:pPr>
            <a:r>
              <a:rPr lang="en-US" sz="1100" dirty="0">
                <a:solidFill>
                  <a:srgbClr val="3D3E44"/>
                </a:solidFill>
                <a:latin typeface="Inter Light" pitchFamily="34" charset="0"/>
                <a:ea typeface="Inter Light" pitchFamily="34" charset="-122"/>
                <a:cs typeface="Inter Light" pitchFamily="34" charset="-120"/>
              </a:rPr>
              <a:t>Duplicate products and extreme values can distort KPIs. </a:t>
            </a:r>
            <a:pPr algn="l" indent="0" marL="0">
              <a:lnSpc>
                <a:spcPct val="125000"/>
              </a:lnSpc>
              <a:buNone/>
            </a:pPr>
            <a:r>
              <a:rPr lang="en-US" sz="1100" b="1" dirty="0">
                <a:solidFill>
                  <a:srgbClr val="3D3E44"/>
                </a:solidFill>
                <a:latin typeface="Inter Bold" pitchFamily="34" charset="0"/>
                <a:ea typeface="Inter Bold" pitchFamily="34" charset="-122"/>
                <a:cs typeface="Inter Bold" pitchFamily="34" charset="-120"/>
              </a:rPr>
              <a:t>Process:</a:t>
            </a:r>
            <a:pPr algn="l" indent="0" marL="0">
              <a:lnSpc>
                <a:spcPct val="125000"/>
              </a:lnSpc>
              <a:buNone/>
            </a:pPr>
            <a:r>
              <a:rPr lang="en-US" sz="1100" dirty="0">
                <a:solidFill>
                  <a:srgbClr val="3D3E44"/>
                </a:solidFill>
                <a:latin typeface="Inter Light" pitchFamily="34" charset="0"/>
                <a:ea typeface="Inter Light" pitchFamily="34" charset="-122"/>
                <a:cs typeface="Inter Light" pitchFamily="34" charset="-120"/>
              </a:rPr>
              <a:t> Raw Data → Cleaning → Validation → Dashboard → Business Decision. </a:t>
            </a:r>
            <a:pPr algn="l" indent="0" marL="0">
              <a:lnSpc>
                <a:spcPct val="125000"/>
              </a:lnSpc>
              <a:buNone/>
            </a:pPr>
            <a:r>
              <a:rPr lang="en-US" sz="1100" b="1" dirty="0">
                <a:solidFill>
                  <a:srgbClr val="3D3E44"/>
                </a:solidFill>
                <a:latin typeface="Inter Bold" pitchFamily="34" charset="0"/>
                <a:ea typeface="Inter Bold" pitchFamily="34" charset="-122"/>
                <a:cs typeface="Inter Bold" pitchFamily="34" charset="-120"/>
              </a:rPr>
              <a:t>Actions:</a:t>
            </a:r>
            <a:pPr algn="l" indent="0" marL="0">
              <a:lnSpc>
                <a:spcPct val="125000"/>
              </a:lnSpc>
              <a:buNone/>
            </a:pPr>
            <a:r>
              <a:rPr lang="en-US" sz="1100" dirty="0">
                <a:solidFill>
                  <a:srgbClr val="3D3E44"/>
                </a:solidFill>
                <a:latin typeface="Inter Light" pitchFamily="34" charset="0"/>
                <a:ea typeface="Inter Light" pitchFamily="34" charset="-122"/>
                <a:cs typeface="Inter Light" pitchFamily="34" charset="-120"/>
              </a:rPr>
              <a:t> Remove duplicate records; validate prices and discounts; check extreme rating counts; standardize categories/subcategories; validate missing values. </a:t>
            </a:r>
            <a:pPr algn="l" indent="0" marL="0">
              <a:lnSpc>
                <a:spcPct val="125000"/>
              </a:lnSpc>
              <a:buNone/>
            </a:pPr>
            <a:r>
              <a:rPr lang="en-US" sz="1100" b="1" dirty="0">
                <a:solidFill>
                  <a:srgbClr val="3D3E44"/>
                </a:solidFill>
                <a:latin typeface="Inter Bold" pitchFamily="34" charset="0"/>
                <a:ea typeface="Inter Bold" pitchFamily="34" charset="-122"/>
                <a:cs typeface="Inter Bold" pitchFamily="34" charset="-120"/>
              </a:rPr>
              <a:t>Expected result:</a:t>
            </a:r>
            <a:pPr algn="l" indent="0" marL="0">
              <a:lnSpc>
                <a:spcPct val="125000"/>
              </a:lnSpc>
              <a:buNone/>
            </a:pPr>
            <a:r>
              <a:rPr lang="en-US" sz="1100" dirty="0">
                <a:solidFill>
                  <a:srgbClr val="3D3E44"/>
                </a:solidFill>
                <a:latin typeface="Inter Light" pitchFamily="34" charset="0"/>
                <a:ea typeface="Inter Light" pitchFamily="34" charset="-122"/>
                <a:cs typeface="Inter Light" pitchFamily="34" charset="-120"/>
              </a:rPr>
              <a:t> More reliable KPIs and business decisions.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458291"/>
            <a:ext cx="10868745" cy="403820"/>
          </a:xfrm>
          <a:prstGeom prst="rect">
            <a:avLst/>
          </a:prstGeom>
          <a:noFill/>
          <a:ln/>
        </p:spPr>
        <p:txBody>
          <a:bodyPr wrap="none" lIns="0" tIns="0" rIns="0" bIns="0" rtlCol="0" anchor="t"/>
          <a:lstStyle/>
          <a:p>
            <a:pPr algn="l" indent="0" marL="0">
              <a:lnSpc>
                <a:spcPct val="104000"/>
              </a:lnSpc>
              <a:buNone/>
            </a:pPr>
            <a:r>
              <a:rPr lang="en-US" sz="2500" dirty="0">
                <a:solidFill>
                  <a:srgbClr val="74767D"/>
                </a:solidFill>
                <a:latin typeface="Montserrat Medium" pitchFamily="34" charset="0"/>
                <a:ea typeface="Montserrat Medium" pitchFamily="34" charset="-122"/>
                <a:cs typeface="Montserrat Medium" pitchFamily="34" charset="-120"/>
              </a:rPr>
              <a:t>Strategic Recommendations &amp; Dashboard Priorities</a:t>
            </a:r>
            <a:endParaRPr lang="en-US" sz="2500" dirty="0"/>
          </a:p>
        </p:txBody>
      </p:sp>
      <p:sp>
        <p:nvSpPr>
          <p:cNvPr id="3" name="Text 1"/>
          <p:cNvSpPr/>
          <p:nvPr/>
        </p:nvSpPr>
        <p:spPr>
          <a:xfrm>
            <a:off x="855244" y="1177429"/>
            <a:ext cx="11284561" cy="184051"/>
          </a:xfrm>
          <a:prstGeom prst="rect">
            <a:avLst/>
          </a:prstGeom>
          <a:noFill/>
          <a:ln/>
        </p:spPr>
        <p:txBody>
          <a:bodyPr wrap="none" lIns="0" tIns="0" rIns="0" bIns="0" rtlCol="0" anchor="t"/>
          <a:lstStyle/>
          <a:p>
            <a:pPr algn="l" indent="0" marL="0">
              <a:lnSpc>
                <a:spcPct val="119000"/>
              </a:lnSpc>
              <a:buNone/>
            </a:pPr>
            <a:r>
              <a:rPr lang="en-US" sz="1000" dirty="0">
                <a:solidFill>
                  <a:srgbClr val="3D3E44"/>
                </a:solidFill>
                <a:latin typeface="Inter Light" pitchFamily="34" charset="0"/>
                <a:ea typeface="Inter Light" pitchFamily="34" charset="-122"/>
                <a:cs typeface="Inter Light" pitchFamily="34" charset="-120"/>
              </a:rPr>
              <a:t>"Focus on high-engagement product segments while controlling excessive discounting, improving data quality, and diversifying the product portfolio."</a:t>
            </a:r>
            <a:endParaRPr lang="en-US" sz="1000" dirty="0"/>
          </a:p>
        </p:txBody>
      </p:sp>
      <p:sp>
        <p:nvSpPr>
          <p:cNvPr id="4" name="Shape 2"/>
          <p:cNvSpPr/>
          <p:nvPr/>
        </p:nvSpPr>
        <p:spPr>
          <a:xfrm>
            <a:off x="661475" y="1063923"/>
            <a:ext cx="19050" cy="411063"/>
          </a:xfrm>
          <a:prstGeom prst="roundRect">
            <a:avLst>
              <a:gd name="adj" fmla="val 49999"/>
            </a:avLst>
          </a:prstGeom>
          <a:solidFill>
            <a:srgbClr val="C6C9DC"/>
          </a:solidFill>
          <a:ln/>
        </p:spPr>
      </p:sp>
      <p:sp>
        <p:nvSpPr>
          <p:cNvPr id="5" name="Shape 3"/>
          <p:cNvSpPr/>
          <p:nvPr/>
        </p:nvSpPr>
        <p:spPr>
          <a:xfrm>
            <a:off x="568509" y="1588492"/>
            <a:ext cx="5462748" cy="4811117"/>
          </a:xfrm>
          <a:prstGeom prst="roundRect">
            <a:avLst>
              <a:gd name="adj" fmla="val 3867"/>
            </a:avLst>
          </a:prstGeom>
          <a:solidFill>
            <a:srgbClr val="C6C9DC"/>
          </a:solidFill>
          <a:ln/>
        </p:spPr>
      </p:sp>
      <p:sp>
        <p:nvSpPr>
          <p:cNvPr id="6" name="Text 4"/>
          <p:cNvSpPr/>
          <p:nvPr/>
        </p:nvSpPr>
        <p:spPr>
          <a:xfrm>
            <a:off x="697689" y="1689398"/>
            <a:ext cx="5204389" cy="208260"/>
          </a:xfrm>
          <a:prstGeom prst="rect">
            <a:avLst/>
          </a:prstGeom>
          <a:noFill/>
          <a:ln/>
        </p:spPr>
        <p:txBody>
          <a:bodyPr wrap="none" lIns="0" tIns="0" rIns="0" bIns="0" rtlCol="0" anchor="t"/>
          <a:lstStyle/>
          <a:p>
            <a:pPr algn="l" indent="0" marL="0">
              <a:lnSpc>
                <a:spcPct val="104000"/>
              </a:lnSpc>
              <a:buNone/>
            </a:pPr>
            <a:r>
              <a:rPr lang="en-US" sz="12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250" dirty="0">
                <a:solidFill>
                  <a:srgbClr val="000000"/>
                </a:solidFill>
                <a:latin typeface="Montserrat Medium" pitchFamily="34" charset="0"/>
                <a:ea typeface="Montserrat Medium" pitchFamily="34" charset="-122"/>
                <a:cs typeface="Montserrat Medium" pitchFamily="34" charset="-120"/>
              </a:rPr>
              <a:t> High Priority</a:t>
            </a:r>
            <a:endParaRPr lang="en-US" sz="1250" dirty="0"/>
          </a:p>
        </p:txBody>
      </p:sp>
      <p:sp>
        <p:nvSpPr>
          <p:cNvPr id="7" name="Text 5"/>
          <p:cNvSpPr/>
          <p:nvPr/>
        </p:nvSpPr>
        <p:spPr>
          <a:xfrm>
            <a:off x="697689" y="1998563"/>
            <a:ext cx="5204389" cy="842169"/>
          </a:xfrm>
          <a:prstGeom prst="rect">
            <a:avLst/>
          </a:prstGeom>
          <a:noFill/>
          <a:ln/>
        </p:spPr>
        <p:txBody>
          <a:bodyPr wrap="square" lIns="0" tIns="0" rIns="0" bIns="0" rtlCol="0" anchor="t">
            <a:normAutofit/>
          </a:bodyPr>
          <a:lstStyle/>
          <a:p>
            <a:pPr algn="l" marL="203200" indent="-203200">
              <a:lnSpc>
                <a:spcPct val="119000"/>
              </a:lnSpc>
              <a:buSzPct val="100000"/>
              <a:buChar char="•"/>
            </a:pPr>
            <a:r>
              <a:rPr lang="en-US" sz="1000" dirty="0">
                <a:solidFill>
                  <a:srgbClr val="3D3E44"/>
                </a:solidFill>
                <a:latin typeface="Inter Light" pitchFamily="34" charset="0"/>
                <a:ea typeface="Inter Light" pitchFamily="34" charset="-122"/>
                <a:cs typeface="Inter Light" pitchFamily="34" charset="-120"/>
              </a:rPr>
              <a:t>Investigate discounts above 90%</a:t>
            </a:r>
            <a:endParaRPr lang="en-US" sz="1000" dirty="0"/>
          </a:p>
          <a:p>
            <a:pPr algn="l" marL="203200" indent="-203200">
              <a:lnSpc>
                <a:spcPct val="119000"/>
              </a:lnSpc>
              <a:buSzPct val="100000"/>
              <a:buChar char="•"/>
            </a:pPr>
            <a:r>
              <a:rPr lang="en-US" sz="1000" dirty="0">
                <a:solidFill>
                  <a:srgbClr val="3D3E44"/>
                </a:solidFill>
                <a:latin typeface="Inter Light" pitchFamily="34" charset="0"/>
                <a:ea typeface="Inter Light" pitchFamily="34" charset="-122"/>
                <a:cs typeface="Inter Light" pitchFamily="34" charset="-120"/>
              </a:rPr>
              <a:t>Clean duplicate records</a:t>
            </a:r>
            <a:endParaRPr lang="en-US" sz="1000" dirty="0"/>
          </a:p>
          <a:p>
            <a:pPr algn="l" marL="203200" indent="-203200">
              <a:lnSpc>
                <a:spcPct val="119000"/>
              </a:lnSpc>
              <a:buSzPct val="100000"/>
              <a:buChar char="•"/>
            </a:pPr>
            <a:r>
              <a:rPr lang="en-US" sz="1000" dirty="0">
                <a:solidFill>
                  <a:srgbClr val="3D3E44"/>
                </a:solidFill>
                <a:latin typeface="Inter Light" pitchFamily="34" charset="0"/>
                <a:ea typeface="Inter Light" pitchFamily="34" charset="-122"/>
                <a:cs typeface="Inter Light" pitchFamily="34" charset="-120"/>
              </a:rPr>
              <a:t>Investigate extreme review-count outliers</a:t>
            </a:r>
            <a:endParaRPr lang="en-US" sz="1000" dirty="0"/>
          </a:p>
          <a:p>
            <a:pPr algn="l" marL="203200" indent="-203200">
              <a:lnSpc>
                <a:spcPct val="119000"/>
              </a:lnSpc>
              <a:buSzPct val="100000"/>
              <a:buChar char="•"/>
            </a:pPr>
            <a:r>
              <a:rPr lang="en-US" sz="1000" dirty="0">
                <a:solidFill>
                  <a:srgbClr val="3D3E44"/>
                </a:solidFill>
                <a:latin typeface="Inter Light" pitchFamily="34" charset="0"/>
                <a:ea typeface="Inter Light" pitchFamily="34" charset="-122"/>
                <a:cs typeface="Inter Light" pitchFamily="34" charset="-120"/>
              </a:rPr>
              <a:t>Monitor profitability impact of heavy discounting</a:t>
            </a:r>
            <a:endParaRPr lang="en-US" sz="1000" dirty="0"/>
          </a:p>
        </p:txBody>
      </p:sp>
      <p:sp>
        <p:nvSpPr>
          <p:cNvPr id="8" name="Text 6"/>
          <p:cNvSpPr/>
          <p:nvPr/>
        </p:nvSpPr>
        <p:spPr>
          <a:xfrm>
            <a:off x="697689" y="2941638"/>
            <a:ext cx="5204389" cy="208260"/>
          </a:xfrm>
          <a:prstGeom prst="rect">
            <a:avLst/>
          </a:prstGeom>
          <a:noFill/>
          <a:ln/>
        </p:spPr>
        <p:txBody>
          <a:bodyPr wrap="none" lIns="0" tIns="0" rIns="0" bIns="0" rtlCol="0" anchor="t"/>
          <a:lstStyle/>
          <a:p>
            <a:pPr algn="l" indent="0" marL="0">
              <a:lnSpc>
                <a:spcPct val="104000"/>
              </a:lnSpc>
              <a:buNone/>
            </a:pPr>
            <a:r>
              <a:rPr lang="en-US" sz="12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250" dirty="0">
                <a:solidFill>
                  <a:srgbClr val="000000"/>
                </a:solidFill>
                <a:latin typeface="Montserrat Medium" pitchFamily="34" charset="0"/>
                <a:ea typeface="Montserrat Medium" pitchFamily="34" charset="-122"/>
                <a:cs typeface="Montserrat Medium" pitchFamily="34" charset="-120"/>
              </a:rPr>
              <a:t> Medium Priority</a:t>
            </a:r>
            <a:endParaRPr lang="en-US" sz="1250" dirty="0"/>
          </a:p>
        </p:txBody>
      </p:sp>
      <p:sp>
        <p:nvSpPr>
          <p:cNvPr id="9" name="Text 7"/>
          <p:cNvSpPr/>
          <p:nvPr/>
        </p:nvSpPr>
        <p:spPr>
          <a:xfrm>
            <a:off x="697689" y="3250803"/>
            <a:ext cx="5204389" cy="622796"/>
          </a:xfrm>
          <a:prstGeom prst="rect">
            <a:avLst/>
          </a:prstGeom>
          <a:noFill/>
          <a:ln/>
        </p:spPr>
        <p:txBody>
          <a:bodyPr wrap="square" lIns="0" tIns="0" rIns="0" bIns="0" rtlCol="0" anchor="t">
            <a:normAutofit/>
          </a:bodyPr>
          <a:lstStyle/>
          <a:p>
            <a:pPr algn="l" marL="203200" indent="-203200">
              <a:lnSpc>
                <a:spcPct val="119000"/>
              </a:lnSpc>
              <a:buSzPct val="100000"/>
              <a:buChar char="•"/>
            </a:pPr>
            <a:r>
              <a:rPr lang="en-US" sz="1000" dirty="0">
                <a:solidFill>
                  <a:srgbClr val="3D3E44"/>
                </a:solidFill>
                <a:latin typeface="Inter Light" pitchFamily="34" charset="0"/>
                <a:ea typeface="Inter Light" pitchFamily="34" charset="-122"/>
                <a:cs typeface="Inter Light" pitchFamily="34" charset="-120"/>
              </a:rPr>
              <a:t>Optimize the Electronics portfolio</a:t>
            </a:r>
            <a:endParaRPr lang="en-US" sz="1000" dirty="0"/>
          </a:p>
          <a:p>
            <a:pPr algn="l" marL="203200" indent="-203200">
              <a:lnSpc>
                <a:spcPct val="119000"/>
              </a:lnSpc>
              <a:buSzPct val="100000"/>
              <a:buChar char="•"/>
            </a:pPr>
            <a:r>
              <a:rPr lang="en-US" sz="1000" dirty="0">
                <a:solidFill>
                  <a:srgbClr val="3D3E44"/>
                </a:solidFill>
                <a:latin typeface="Inter Light" pitchFamily="34" charset="0"/>
                <a:ea typeface="Inter Light" pitchFamily="34" charset="-122"/>
                <a:cs typeface="Inter Light" pitchFamily="34" charset="-120"/>
              </a:rPr>
              <a:t>Analyze high-performing subcategories</a:t>
            </a:r>
            <a:endParaRPr lang="en-US" sz="1000" dirty="0"/>
          </a:p>
          <a:p>
            <a:pPr algn="l" marL="203200" indent="-203200">
              <a:lnSpc>
                <a:spcPct val="119000"/>
              </a:lnSpc>
              <a:buSzPct val="100000"/>
              <a:buChar char="•"/>
            </a:pPr>
            <a:r>
              <a:rPr lang="en-US" sz="1000" dirty="0">
                <a:solidFill>
                  <a:srgbClr val="3D3E44"/>
                </a:solidFill>
                <a:latin typeface="Inter Light" pitchFamily="34" charset="0"/>
                <a:ea typeface="Inter Light" pitchFamily="34" charset="-122"/>
                <a:cs typeface="Inter Light" pitchFamily="34" charset="-120"/>
              </a:rPr>
              <a:t>Identify products with strong ratings but low visibility</a:t>
            </a:r>
            <a:endParaRPr lang="en-US" sz="1000" dirty="0"/>
          </a:p>
        </p:txBody>
      </p:sp>
      <p:sp>
        <p:nvSpPr>
          <p:cNvPr id="10" name="Text 8"/>
          <p:cNvSpPr/>
          <p:nvPr/>
        </p:nvSpPr>
        <p:spPr>
          <a:xfrm>
            <a:off x="697689" y="3974505"/>
            <a:ext cx="5204389" cy="208260"/>
          </a:xfrm>
          <a:prstGeom prst="rect">
            <a:avLst/>
          </a:prstGeom>
          <a:noFill/>
          <a:ln/>
        </p:spPr>
        <p:txBody>
          <a:bodyPr wrap="none" lIns="0" tIns="0" rIns="0" bIns="0" rtlCol="0" anchor="t"/>
          <a:lstStyle/>
          <a:p>
            <a:pPr algn="l" indent="0" marL="0">
              <a:lnSpc>
                <a:spcPct val="104000"/>
              </a:lnSpc>
              <a:buNone/>
            </a:pPr>
            <a:r>
              <a:rPr lang="en-US" sz="12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250" dirty="0">
                <a:solidFill>
                  <a:srgbClr val="000000"/>
                </a:solidFill>
                <a:latin typeface="Montserrat Medium" pitchFamily="34" charset="0"/>
                <a:ea typeface="Montserrat Medium" pitchFamily="34" charset="-122"/>
                <a:cs typeface="Montserrat Medium" pitchFamily="34" charset="-120"/>
              </a:rPr>
              <a:t> Growth Opportunity</a:t>
            </a:r>
            <a:endParaRPr lang="en-US" sz="1250" dirty="0"/>
          </a:p>
        </p:txBody>
      </p:sp>
      <p:sp>
        <p:nvSpPr>
          <p:cNvPr id="11" name="Text 9"/>
          <p:cNvSpPr/>
          <p:nvPr/>
        </p:nvSpPr>
        <p:spPr>
          <a:xfrm>
            <a:off x="697689" y="4283670"/>
            <a:ext cx="5204389" cy="842169"/>
          </a:xfrm>
          <a:prstGeom prst="rect">
            <a:avLst/>
          </a:prstGeom>
          <a:noFill/>
          <a:ln/>
        </p:spPr>
        <p:txBody>
          <a:bodyPr wrap="square" lIns="0" tIns="0" rIns="0" bIns="0" rtlCol="0" anchor="t">
            <a:normAutofit/>
          </a:bodyPr>
          <a:lstStyle/>
          <a:p>
            <a:pPr algn="l" marL="203200" indent="-203200">
              <a:lnSpc>
                <a:spcPct val="119000"/>
              </a:lnSpc>
              <a:buSzPct val="100000"/>
              <a:buChar char="•"/>
            </a:pPr>
            <a:r>
              <a:rPr lang="en-US" sz="1000" dirty="0">
                <a:solidFill>
                  <a:srgbClr val="3D3E44"/>
                </a:solidFill>
                <a:latin typeface="Inter Light" pitchFamily="34" charset="0"/>
                <a:ea typeface="Inter Light" pitchFamily="34" charset="-122"/>
                <a:cs typeface="Inter Light" pitchFamily="34" charset="-120"/>
              </a:rPr>
              <a:t>Expand successful product segments (USB, Smart Watches, Audio)</a:t>
            </a:r>
            <a:endParaRPr lang="en-US" sz="1000" dirty="0"/>
          </a:p>
          <a:p>
            <a:pPr algn="l" marL="203200" indent="-203200">
              <a:lnSpc>
                <a:spcPct val="119000"/>
              </a:lnSpc>
              <a:buSzPct val="100000"/>
              <a:buChar char="•"/>
            </a:pPr>
            <a:r>
              <a:rPr lang="en-US" sz="1000" dirty="0">
                <a:solidFill>
                  <a:srgbClr val="3D3E44"/>
                </a:solidFill>
                <a:latin typeface="Inter Light" pitchFamily="34" charset="0"/>
                <a:ea typeface="Inter Light" pitchFamily="34" charset="-122"/>
                <a:cs typeface="Inter Light" pitchFamily="34" charset="-120"/>
              </a:rPr>
              <a:t>Cross-sell related products using review and category data</a:t>
            </a:r>
            <a:endParaRPr lang="en-US" sz="1000" dirty="0"/>
          </a:p>
          <a:p>
            <a:pPr algn="l" marL="203200" indent="-203200">
              <a:lnSpc>
                <a:spcPct val="119000"/>
              </a:lnSpc>
              <a:buSzPct val="100000"/>
              <a:buChar char="•"/>
            </a:pPr>
            <a:r>
              <a:rPr lang="en-US" sz="1000" dirty="0">
                <a:solidFill>
                  <a:srgbClr val="3D3E44"/>
                </a:solidFill>
                <a:latin typeface="Inter Light" pitchFamily="34" charset="0"/>
                <a:ea typeface="Inter Light" pitchFamily="34" charset="-122"/>
                <a:cs typeface="Inter Light" pitchFamily="34" charset="-120"/>
              </a:rPr>
              <a:t>Develop personalized recommendation strategies</a:t>
            </a:r>
            <a:endParaRPr lang="en-US" sz="1000" dirty="0"/>
          </a:p>
          <a:p>
            <a:pPr algn="l" marL="203200" indent="-203200">
              <a:lnSpc>
                <a:spcPct val="119000"/>
              </a:lnSpc>
              <a:buSzPct val="100000"/>
              <a:buChar char="•"/>
            </a:pPr>
            <a:r>
              <a:rPr lang="en-US" sz="1000" dirty="0">
                <a:solidFill>
                  <a:srgbClr val="3D3E44"/>
                </a:solidFill>
                <a:latin typeface="Inter Light" pitchFamily="34" charset="0"/>
                <a:ea typeface="Inter Light" pitchFamily="34" charset="-122"/>
                <a:cs typeface="Inter Light" pitchFamily="34" charset="-120"/>
              </a:rPr>
              <a:t>Explore underserved categories for diversification</a:t>
            </a:r>
            <a:endParaRPr lang="en-US" sz="1000" dirty="0"/>
          </a:p>
        </p:txBody>
      </p:sp>
      <p:sp>
        <p:nvSpPr>
          <p:cNvPr id="12" name="Text 10"/>
          <p:cNvSpPr/>
          <p:nvPr/>
        </p:nvSpPr>
        <p:spPr>
          <a:xfrm>
            <a:off x="6259753" y="1689398"/>
            <a:ext cx="5276817" cy="208260"/>
          </a:xfrm>
          <a:prstGeom prst="rect">
            <a:avLst/>
          </a:prstGeom>
          <a:noFill/>
          <a:ln/>
        </p:spPr>
        <p:txBody>
          <a:bodyPr wrap="none" lIns="0" tIns="0" rIns="0" bIns="0" rtlCol="0" anchor="t"/>
          <a:lstStyle/>
          <a:p>
            <a:pPr algn="l" indent="0" marL="0">
              <a:lnSpc>
                <a:spcPct val="104000"/>
              </a:lnSpc>
              <a:buNone/>
            </a:pPr>
            <a:r>
              <a:rPr lang="en-US" sz="12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250" dirty="0">
                <a:solidFill>
                  <a:srgbClr val="74767D"/>
                </a:solidFill>
                <a:latin typeface="Montserrat Medium" pitchFamily="34" charset="0"/>
                <a:ea typeface="Montserrat Medium" pitchFamily="34" charset="-122"/>
                <a:cs typeface="Montserrat Medium" pitchFamily="34" charset="-120"/>
              </a:rPr>
              <a:t> Recommended Power BI Dashboard Pages</a:t>
            </a:r>
            <a:endParaRPr lang="en-US" sz="1250" dirty="0"/>
          </a:p>
        </p:txBody>
      </p:sp>
      <p:sp>
        <p:nvSpPr>
          <p:cNvPr id="13" name="Text 11"/>
          <p:cNvSpPr/>
          <p:nvPr/>
        </p:nvSpPr>
        <p:spPr>
          <a:xfrm>
            <a:off x="6259753" y="1998563"/>
            <a:ext cx="5886402" cy="184051"/>
          </a:xfrm>
          <a:prstGeom prst="rect">
            <a:avLst/>
          </a:prstGeom>
          <a:noFill/>
          <a:ln/>
        </p:spPr>
        <p:txBody>
          <a:bodyPr wrap="none" lIns="0" tIns="0" rIns="0" bIns="0" rtlCol="0" anchor="t"/>
          <a:lstStyle/>
          <a:p>
            <a:pPr algn="l" indent="0" marL="0">
              <a:lnSpc>
                <a:spcPct val="119000"/>
              </a:lnSpc>
              <a:buNone/>
            </a:pPr>
            <a:r>
              <a:rPr lang="en-US" sz="1000" dirty="0">
                <a:solidFill>
                  <a:srgbClr val="3D3E44"/>
                </a:solidFill>
                <a:latin typeface="Inter Light" pitchFamily="34" charset="0"/>
                <a:ea typeface="Inter Light" pitchFamily="34" charset="-122"/>
                <a:cs typeface="Inter Light" pitchFamily="34" charset="-120"/>
              </a:rPr>
              <a:t>A dedicated </a:t>
            </a:r>
            <a:pPr algn="l" indent="0" marL="0">
              <a:lnSpc>
                <a:spcPct val="119000"/>
              </a:lnSpc>
              <a:buNone/>
            </a:pPr>
            <a:r>
              <a:rPr lang="en-US" sz="1000" b="1" dirty="0">
                <a:solidFill>
                  <a:srgbClr val="3D3E44"/>
                </a:solidFill>
                <a:latin typeface="Inter Bold" pitchFamily="34" charset="0"/>
                <a:ea typeface="Inter Bold" pitchFamily="34" charset="-122"/>
                <a:cs typeface="Inter Bold" pitchFamily="34" charset="-120"/>
              </a:rPr>
              <a:t>Top Trends + Anomalies</a:t>
            </a:r>
            <a:pPr algn="l" indent="0" marL="0">
              <a:lnSpc>
                <a:spcPct val="119000"/>
              </a:lnSpc>
              <a:buNone/>
            </a:pPr>
            <a:r>
              <a:rPr lang="en-US" sz="1000" dirty="0">
                <a:solidFill>
                  <a:srgbClr val="3D3E44"/>
                </a:solidFill>
                <a:latin typeface="Inter Light" pitchFamily="34" charset="0"/>
                <a:ea typeface="Inter Light" pitchFamily="34" charset="-122"/>
                <a:cs typeface="Inter Light" pitchFamily="34" charset="-120"/>
              </a:rPr>
              <a:t> page should include:</a:t>
            </a:r>
            <a:endParaRPr lang="en-US" sz="1000" dirty="0"/>
          </a:p>
        </p:txBody>
      </p:sp>
      <p:sp>
        <p:nvSpPr>
          <p:cNvPr id="14" name="Text 12"/>
          <p:cNvSpPr/>
          <p:nvPr/>
        </p:nvSpPr>
        <p:spPr>
          <a:xfrm>
            <a:off x="6259753" y="2273399"/>
            <a:ext cx="5276817" cy="1061541"/>
          </a:xfrm>
          <a:prstGeom prst="rect">
            <a:avLst/>
          </a:prstGeom>
          <a:noFill/>
          <a:ln/>
        </p:spPr>
        <p:txBody>
          <a:bodyPr wrap="square" lIns="0" tIns="0" rIns="0" bIns="0" rtlCol="0" anchor="t">
            <a:normAutofit/>
          </a:bodyPr>
          <a:lstStyle/>
          <a:p>
            <a:pPr algn="l" marL="203200" indent="-203200">
              <a:lnSpc>
                <a:spcPct val="119000"/>
              </a:lnSpc>
              <a:buSzPct val="100000"/>
              <a:buChar char="•"/>
            </a:pPr>
            <a:r>
              <a:rPr lang="en-US" sz="1000" b="1" dirty="0">
                <a:solidFill>
                  <a:srgbClr val="3D3E44"/>
                </a:solidFill>
                <a:latin typeface="Inter Bold" pitchFamily="34" charset="0"/>
                <a:ea typeface="Inter Bold" pitchFamily="34" charset="-122"/>
                <a:cs typeface="Inter Bold" pitchFamily="34" charset="-120"/>
              </a:rPr>
              <a:t>Top 10 subcategories</a:t>
            </a:r>
            <a:pPr algn="l" marL="203200" indent="-203200">
              <a:lnSpc>
                <a:spcPct val="119000"/>
              </a:lnSpc>
              <a:buSzPct val="100000"/>
              <a:buChar char="•"/>
            </a:pPr>
            <a:r>
              <a:rPr lang="en-US" sz="1000" dirty="0">
                <a:solidFill>
                  <a:srgbClr val="3D3E44"/>
                </a:solidFill>
                <a:latin typeface="Inter Light" pitchFamily="34" charset="0"/>
                <a:ea typeface="Inter Light" pitchFamily="34" charset="-122"/>
                <a:cs typeface="Inter Light" pitchFamily="34" charset="-120"/>
              </a:rPr>
              <a:t> → bar chart</a:t>
            </a:r>
            <a:endParaRPr lang="en-US" sz="1000" dirty="0"/>
          </a:p>
          <a:p>
            <a:pPr algn="l" marL="203200" indent="-203200">
              <a:lnSpc>
                <a:spcPct val="119000"/>
              </a:lnSpc>
              <a:buSzPct val="100000"/>
              <a:buChar char="•"/>
            </a:pPr>
            <a:r>
              <a:rPr lang="en-US" sz="1000" b="1" dirty="0">
                <a:solidFill>
                  <a:srgbClr val="3D3E44"/>
                </a:solidFill>
                <a:latin typeface="Inter Bold" pitchFamily="34" charset="0"/>
                <a:ea typeface="Inter Bold" pitchFamily="34" charset="-122"/>
                <a:cs typeface="Inter Bold" pitchFamily="34" charset="-120"/>
              </a:rPr>
              <a:t>Average discount by category</a:t>
            </a:r>
            <a:pPr algn="l" marL="203200" indent="-203200">
              <a:lnSpc>
                <a:spcPct val="119000"/>
              </a:lnSpc>
              <a:buSzPct val="100000"/>
              <a:buChar char="•"/>
            </a:pPr>
            <a:r>
              <a:rPr lang="en-US" sz="1000" dirty="0">
                <a:solidFill>
                  <a:srgbClr val="3D3E44"/>
                </a:solidFill>
                <a:latin typeface="Inter Light" pitchFamily="34" charset="0"/>
                <a:ea typeface="Inter Light" pitchFamily="34" charset="-122"/>
                <a:cs typeface="Inter Light" pitchFamily="34" charset="-120"/>
              </a:rPr>
              <a:t> → bar chart</a:t>
            </a:r>
            <a:endParaRPr lang="en-US" sz="1000" dirty="0"/>
          </a:p>
          <a:p>
            <a:pPr algn="l" marL="203200" indent="-203200">
              <a:lnSpc>
                <a:spcPct val="119000"/>
              </a:lnSpc>
              <a:buSzPct val="100000"/>
              <a:buChar char="•"/>
            </a:pPr>
            <a:r>
              <a:rPr lang="en-US" sz="1000" b="1" dirty="0">
                <a:solidFill>
                  <a:srgbClr val="3D3E44"/>
                </a:solidFill>
                <a:latin typeface="Inter Bold" pitchFamily="34" charset="0"/>
                <a:ea typeface="Inter Bold" pitchFamily="34" charset="-122"/>
                <a:cs typeface="Inter Bold" pitchFamily="34" charset="-120"/>
              </a:rPr>
              <a:t>Price vs. rating</a:t>
            </a:r>
            <a:pPr algn="l" marL="203200" indent="-203200">
              <a:lnSpc>
                <a:spcPct val="119000"/>
              </a:lnSpc>
              <a:buSzPct val="100000"/>
              <a:buChar char="•"/>
            </a:pPr>
            <a:r>
              <a:rPr lang="en-US" sz="1000" dirty="0">
                <a:solidFill>
                  <a:srgbClr val="3D3E44"/>
                </a:solidFill>
                <a:latin typeface="Inter Light" pitchFamily="34" charset="0"/>
                <a:ea typeface="Inter Light" pitchFamily="34" charset="-122"/>
                <a:cs typeface="Inter Light" pitchFamily="34" charset="-120"/>
              </a:rPr>
              <a:t> → scatter plot</a:t>
            </a:r>
            <a:endParaRPr lang="en-US" sz="1000" dirty="0"/>
          </a:p>
          <a:p>
            <a:pPr algn="l" marL="203200" indent="-203200">
              <a:lnSpc>
                <a:spcPct val="119000"/>
              </a:lnSpc>
              <a:buSzPct val="100000"/>
              <a:buChar char="•"/>
            </a:pPr>
            <a:r>
              <a:rPr lang="en-US" sz="1000" b="1" dirty="0">
                <a:solidFill>
                  <a:srgbClr val="3D3E44"/>
                </a:solidFill>
                <a:latin typeface="Inter Bold" pitchFamily="34" charset="0"/>
                <a:ea typeface="Inter Bold" pitchFamily="34" charset="-122"/>
                <a:cs typeface="Inter Bold" pitchFamily="34" charset="-120"/>
              </a:rPr>
              <a:t>Top products by rating count</a:t>
            </a:r>
            <a:pPr algn="l" marL="203200" indent="-203200">
              <a:lnSpc>
                <a:spcPct val="119000"/>
              </a:lnSpc>
              <a:buSzPct val="100000"/>
              <a:buChar char="•"/>
            </a:pPr>
            <a:r>
              <a:rPr lang="en-US" sz="1000" dirty="0">
                <a:solidFill>
                  <a:srgbClr val="3D3E44"/>
                </a:solidFill>
                <a:latin typeface="Inter Light" pitchFamily="34" charset="0"/>
                <a:ea typeface="Inter Light" pitchFamily="34" charset="-122"/>
                <a:cs typeface="Inter Light" pitchFamily="34" charset="-120"/>
              </a:rPr>
              <a:t> → bar chart</a:t>
            </a:r>
            <a:endParaRPr lang="en-US" sz="1000" dirty="0"/>
          </a:p>
          <a:p>
            <a:pPr algn="l" marL="203200" indent="-203200">
              <a:lnSpc>
                <a:spcPct val="119000"/>
              </a:lnSpc>
              <a:buSzPct val="100000"/>
              <a:buChar char="•"/>
            </a:pPr>
            <a:r>
              <a:rPr lang="en-US" sz="1000" b="1" dirty="0">
                <a:solidFill>
                  <a:srgbClr val="3D3E44"/>
                </a:solidFill>
                <a:latin typeface="Inter Bold" pitchFamily="34" charset="0"/>
                <a:ea typeface="Inter Bold" pitchFamily="34" charset="-122"/>
                <a:cs typeface="Inter Bold" pitchFamily="34" charset="-120"/>
              </a:rPr>
              <a:t>Discount outliers</a:t>
            </a:r>
            <a:pPr algn="l" marL="203200" indent="-203200">
              <a:lnSpc>
                <a:spcPct val="119000"/>
              </a:lnSpc>
              <a:buSzPct val="100000"/>
              <a:buChar char="•"/>
            </a:pPr>
            <a:r>
              <a:rPr lang="en-US" sz="1000" dirty="0">
                <a:solidFill>
                  <a:srgbClr val="3D3E44"/>
                </a:solidFill>
                <a:latin typeface="Inter Light" pitchFamily="34" charset="0"/>
                <a:ea typeface="Inter Light" pitchFamily="34" charset="-122"/>
                <a:cs typeface="Inter Light" pitchFamily="34" charset="-120"/>
              </a:rPr>
              <a:t> → table</a:t>
            </a:r>
            <a:endParaRPr lang="en-US" sz="1000" dirty="0"/>
          </a:p>
        </p:txBody>
      </p:sp>
      <p:sp>
        <p:nvSpPr>
          <p:cNvPr id="15" name="Text 13"/>
          <p:cNvSpPr/>
          <p:nvPr/>
        </p:nvSpPr>
        <p:spPr>
          <a:xfrm>
            <a:off x="6259753" y="3435846"/>
            <a:ext cx="5276817" cy="208260"/>
          </a:xfrm>
          <a:prstGeom prst="rect">
            <a:avLst/>
          </a:prstGeom>
          <a:noFill/>
          <a:ln/>
        </p:spPr>
        <p:txBody>
          <a:bodyPr wrap="none" lIns="0" tIns="0" rIns="0" bIns="0" rtlCol="0" anchor="t"/>
          <a:lstStyle/>
          <a:p>
            <a:pPr algn="l" indent="0" marL="0">
              <a:lnSpc>
                <a:spcPct val="104000"/>
              </a:lnSpc>
              <a:buNone/>
            </a:pPr>
            <a:r>
              <a:rPr lang="en-US" sz="12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250" dirty="0">
                <a:solidFill>
                  <a:srgbClr val="74767D"/>
                </a:solidFill>
                <a:latin typeface="Montserrat Medium" pitchFamily="34" charset="0"/>
                <a:ea typeface="Montserrat Medium" pitchFamily="34" charset="-122"/>
                <a:cs typeface="Montserrat Medium" pitchFamily="34" charset="-120"/>
              </a:rPr>
              <a:t> KPI Cards</a:t>
            </a:r>
            <a:endParaRPr lang="en-US" sz="1250" dirty="0"/>
          </a:p>
        </p:txBody>
      </p:sp>
      <p:sp>
        <p:nvSpPr>
          <p:cNvPr id="16" name="Shape 14"/>
          <p:cNvSpPr/>
          <p:nvPr/>
        </p:nvSpPr>
        <p:spPr>
          <a:xfrm>
            <a:off x="6259753" y="3757612"/>
            <a:ext cx="2587957" cy="757932"/>
          </a:xfrm>
          <a:prstGeom prst="roundRect">
            <a:avLst>
              <a:gd name="adj" fmla="val 15343"/>
            </a:avLst>
          </a:prstGeom>
          <a:solidFill>
            <a:srgbClr val="EFF0F6"/>
          </a:solidFill>
          <a:ln w="6350">
            <a:solidFill>
              <a:srgbClr val="C5C7D2"/>
            </a:solidFill>
            <a:prstDash val="solid"/>
          </a:ln>
        </p:spPr>
      </p:sp>
      <p:sp>
        <p:nvSpPr>
          <p:cNvPr id="17" name="Text 15"/>
          <p:cNvSpPr/>
          <p:nvPr/>
        </p:nvSpPr>
        <p:spPr>
          <a:xfrm>
            <a:off x="6395282" y="3893145"/>
            <a:ext cx="2316898" cy="201910"/>
          </a:xfrm>
          <a:prstGeom prst="rect">
            <a:avLst/>
          </a:prstGeom>
          <a:noFill/>
          <a:ln/>
        </p:spPr>
        <p:txBody>
          <a:bodyPr wrap="none" lIns="0" tIns="0" rIns="0" bIns="0" rtlCol="0" anchor="t"/>
          <a:lstStyle/>
          <a:p>
            <a:pPr algn="l" indent="0" marL="0">
              <a:lnSpc>
                <a:spcPct val="104000"/>
              </a:lnSpc>
              <a:buNone/>
            </a:pPr>
            <a:r>
              <a:rPr lang="en-US" sz="1250" dirty="0">
                <a:solidFill>
                  <a:srgbClr val="3D3E44"/>
                </a:solidFill>
                <a:latin typeface="Montserrat Medium" pitchFamily="34" charset="0"/>
                <a:ea typeface="Montserrat Medium" pitchFamily="34" charset="-122"/>
                <a:cs typeface="Montserrat Medium" pitchFamily="34" charset="-120"/>
              </a:rPr>
              <a:t>1,465</a:t>
            </a:r>
            <a:endParaRPr lang="en-US" sz="1250" dirty="0"/>
          </a:p>
        </p:txBody>
      </p:sp>
      <p:sp>
        <p:nvSpPr>
          <p:cNvPr id="18" name="Text 16"/>
          <p:cNvSpPr/>
          <p:nvPr/>
        </p:nvSpPr>
        <p:spPr>
          <a:xfrm>
            <a:off x="6395282" y="4195961"/>
            <a:ext cx="2316898" cy="184051"/>
          </a:xfrm>
          <a:prstGeom prst="rect">
            <a:avLst/>
          </a:prstGeom>
          <a:noFill/>
          <a:ln/>
        </p:spPr>
        <p:txBody>
          <a:bodyPr wrap="none" lIns="0" tIns="0" rIns="0" bIns="0" rtlCol="0" anchor="t"/>
          <a:lstStyle/>
          <a:p>
            <a:pPr algn="l" indent="0" marL="0">
              <a:lnSpc>
                <a:spcPct val="119000"/>
              </a:lnSpc>
              <a:buNone/>
            </a:pPr>
            <a:r>
              <a:rPr lang="en-US" sz="1000" dirty="0">
                <a:solidFill>
                  <a:srgbClr val="3D3E44"/>
                </a:solidFill>
                <a:latin typeface="Inter Light" pitchFamily="34" charset="0"/>
                <a:ea typeface="Inter Light" pitchFamily="34" charset="-122"/>
                <a:cs typeface="Inter Light" pitchFamily="34" charset="-120"/>
              </a:rPr>
              <a:t>Products</a:t>
            </a:r>
            <a:endParaRPr lang="en-US" sz="1000" dirty="0"/>
          </a:p>
        </p:txBody>
      </p:sp>
      <p:sp>
        <p:nvSpPr>
          <p:cNvPr id="19" name="Shape 17"/>
          <p:cNvSpPr/>
          <p:nvPr/>
        </p:nvSpPr>
        <p:spPr>
          <a:xfrm>
            <a:off x="8948613" y="3757612"/>
            <a:ext cx="2587957" cy="757932"/>
          </a:xfrm>
          <a:prstGeom prst="roundRect">
            <a:avLst>
              <a:gd name="adj" fmla="val 15343"/>
            </a:avLst>
          </a:prstGeom>
          <a:solidFill>
            <a:srgbClr val="EFF0F6"/>
          </a:solidFill>
          <a:ln w="6350">
            <a:solidFill>
              <a:srgbClr val="C5C7D2"/>
            </a:solidFill>
            <a:prstDash val="solid"/>
          </a:ln>
        </p:spPr>
      </p:sp>
      <p:sp>
        <p:nvSpPr>
          <p:cNvPr id="20" name="Text 18"/>
          <p:cNvSpPr/>
          <p:nvPr/>
        </p:nvSpPr>
        <p:spPr>
          <a:xfrm>
            <a:off x="9084142" y="3893145"/>
            <a:ext cx="2316898" cy="201910"/>
          </a:xfrm>
          <a:prstGeom prst="rect">
            <a:avLst/>
          </a:prstGeom>
          <a:noFill/>
          <a:ln/>
        </p:spPr>
        <p:txBody>
          <a:bodyPr wrap="none" lIns="0" tIns="0" rIns="0" bIns="0" rtlCol="0" anchor="t"/>
          <a:lstStyle/>
          <a:p>
            <a:pPr algn="l" indent="0" marL="0">
              <a:lnSpc>
                <a:spcPct val="104000"/>
              </a:lnSpc>
              <a:buNone/>
            </a:pPr>
            <a:r>
              <a:rPr lang="en-US" sz="1250" dirty="0">
                <a:solidFill>
                  <a:srgbClr val="3D3E44"/>
                </a:solidFill>
                <a:latin typeface="Montserrat Medium" pitchFamily="34" charset="0"/>
                <a:ea typeface="Montserrat Medium" pitchFamily="34" charset="-122"/>
                <a:cs typeface="Montserrat Medium" pitchFamily="34" charset="-120"/>
              </a:rPr>
              <a:t>4.10</a:t>
            </a:r>
            <a:endParaRPr lang="en-US" sz="1250" dirty="0"/>
          </a:p>
        </p:txBody>
      </p:sp>
      <p:sp>
        <p:nvSpPr>
          <p:cNvPr id="21" name="Text 19"/>
          <p:cNvSpPr/>
          <p:nvPr/>
        </p:nvSpPr>
        <p:spPr>
          <a:xfrm>
            <a:off x="9084142" y="4195961"/>
            <a:ext cx="2316898" cy="184051"/>
          </a:xfrm>
          <a:prstGeom prst="rect">
            <a:avLst/>
          </a:prstGeom>
          <a:noFill/>
          <a:ln/>
        </p:spPr>
        <p:txBody>
          <a:bodyPr wrap="none" lIns="0" tIns="0" rIns="0" bIns="0" rtlCol="0" anchor="t"/>
          <a:lstStyle/>
          <a:p>
            <a:pPr algn="l" indent="0" marL="0">
              <a:lnSpc>
                <a:spcPct val="119000"/>
              </a:lnSpc>
              <a:buNone/>
            </a:pPr>
            <a:r>
              <a:rPr lang="en-US" sz="1000" dirty="0">
                <a:solidFill>
                  <a:srgbClr val="3D3E44"/>
                </a:solidFill>
                <a:latin typeface="Inter Light" pitchFamily="34" charset="0"/>
                <a:ea typeface="Inter Light" pitchFamily="34" charset="-122"/>
                <a:cs typeface="Inter Light" pitchFamily="34" charset="-120"/>
              </a:rPr>
              <a:t>Avg Rating</a:t>
            </a:r>
            <a:endParaRPr lang="en-US" sz="1000" dirty="0"/>
          </a:p>
        </p:txBody>
      </p:sp>
      <p:sp>
        <p:nvSpPr>
          <p:cNvPr id="22" name="Shape 20"/>
          <p:cNvSpPr/>
          <p:nvPr/>
        </p:nvSpPr>
        <p:spPr>
          <a:xfrm>
            <a:off x="6259753" y="4616450"/>
            <a:ext cx="2587957" cy="757932"/>
          </a:xfrm>
          <a:prstGeom prst="roundRect">
            <a:avLst>
              <a:gd name="adj" fmla="val 15343"/>
            </a:avLst>
          </a:prstGeom>
          <a:solidFill>
            <a:srgbClr val="EFF0F6"/>
          </a:solidFill>
          <a:ln w="6350">
            <a:solidFill>
              <a:srgbClr val="C5C7D2"/>
            </a:solidFill>
            <a:prstDash val="solid"/>
          </a:ln>
        </p:spPr>
      </p:sp>
      <p:sp>
        <p:nvSpPr>
          <p:cNvPr id="23" name="Text 21"/>
          <p:cNvSpPr/>
          <p:nvPr/>
        </p:nvSpPr>
        <p:spPr>
          <a:xfrm>
            <a:off x="6395282" y="4751983"/>
            <a:ext cx="2316898" cy="201910"/>
          </a:xfrm>
          <a:prstGeom prst="rect">
            <a:avLst/>
          </a:prstGeom>
          <a:noFill/>
          <a:ln/>
        </p:spPr>
        <p:txBody>
          <a:bodyPr wrap="none" lIns="0" tIns="0" rIns="0" bIns="0" rtlCol="0" anchor="t"/>
          <a:lstStyle/>
          <a:p>
            <a:pPr algn="l" indent="0" marL="0">
              <a:lnSpc>
                <a:spcPct val="104000"/>
              </a:lnSpc>
              <a:buNone/>
            </a:pPr>
            <a:r>
              <a:rPr lang="en-US" sz="1250" dirty="0">
                <a:solidFill>
                  <a:srgbClr val="3D3E44"/>
                </a:solidFill>
                <a:latin typeface="Montserrat Medium" pitchFamily="34" charset="0"/>
                <a:ea typeface="Montserrat Medium" pitchFamily="34" charset="-122"/>
                <a:cs typeface="Montserrat Medium" pitchFamily="34" charset="-120"/>
              </a:rPr>
              <a:t>47.7%</a:t>
            </a:r>
            <a:endParaRPr lang="en-US" sz="1250" dirty="0"/>
          </a:p>
        </p:txBody>
      </p:sp>
      <p:sp>
        <p:nvSpPr>
          <p:cNvPr id="24" name="Text 22"/>
          <p:cNvSpPr/>
          <p:nvPr/>
        </p:nvSpPr>
        <p:spPr>
          <a:xfrm>
            <a:off x="6395282" y="5054798"/>
            <a:ext cx="2316898" cy="184051"/>
          </a:xfrm>
          <a:prstGeom prst="rect">
            <a:avLst/>
          </a:prstGeom>
          <a:noFill/>
          <a:ln/>
        </p:spPr>
        <p:txBody>
          <a:bodyPr wrap="none" lIns="0" tIns="0" rIns="0" bIns="0" rtlCol="0" anchor="t"/>
          <a:lstStyle/>
          <a:p>
            <a:pPr algn="l" indent="0" marL="0">
              <a:lnSpc>
                <a:spcPct val="119000"/>
              </a:lnSpc>
              <a:buNone/>
            </a:pPr>
            <a:r>
              <a:rPr lang="en-US" sz="1000" dirty="0">
                <a:solidFill>
                  <a:srgbClr val="3D3E44"/>
                </a:solidFill>
                <a:latin typeface="Inter Light" pitchFamily="34" charset="0"/>
                <a:ea typeface="Inter Light" pitchFamily="34" charset="-122"/>
                <a:cs typeface="Inter Light" pitchFamily="34" charset="-120"/>
              </a:rPr>
              <a:t>Avg Discount</a:t>
            </a:r>
            <a:endParaRPr lang="en-US" sz="1000" dirty="0"/>
          </a:p>
        </p:txBody>
      </p:sp>
      <p:sp>
        <p:nvSpPr>
          <p:cNvPr id="25" name="Shape 23"/>
          <p:cNvSpPr/>
          <p:nvPr/>
        </p:nvSpPr>
        <p:spPr>
          <a:xfrm>
            <a:off x="8948613" y="4616450"/>
            <a:ext cx="2587957" cy="757932"/>
          </a:xfrm>
          <a:prstGeom prst="roundRect">
            <a:avLst>
              <a:gd name="adj" fmla="val 15343"/>
            </a:avLst>
          </a:prstGeom>
          <a:solidFill>
            <a:srgbClr val="EFF0F6"/>
          </a:solidFill>
          <a:ln w="6350">
            <a:solidFill>
              <a:srgbClr val="C5C7D2"/>
            </a:solidFill>
            <a:prstDash val="solid"/>
          </a:ln>
        </p:spPr>
      </p:sp>
      <p:sp>
        <p:nvSpPr>
          <p:cNvPr id="26" name="Text 24"/>
          <p:cNvSpPr/>
          <p:nvPr/>
        </p:nvSpPr>
        <p:spPr>
          <a:xfrm>
            <a:off x="9084142" y="4751983"/>
            <a:ext cx="2316898" cy="201910"/>
          </a:xfrm>
          <a:prstGeom prst="rect">
            <a:avLst/>
          </a:prstGeom>
          <a:noFill/>
          <a:ln/>
        </p:spPr>
        <p:txBody>
          <a:bodyPr wrap="none" lIns="0" tIns="0" rIns="0" bIns="0" rtlCol="0" anchor="t"/>
          <a:lstStyle/>
          <a:p>
            <a:pPr algn="l" indent="0" marL="0">
              <a:lnSpc>
                <a:spcPct val="104000"/>
              </a:lnSpc>
              <a:buNone/>
            </a:pPr>
            <a:r>
              <a:rPr lang="en-US" sz="1250" dirty="0">
                <a:solidFill>
                  <a:srgbClr val="3D3E44"/>
                </a:solidFill>
                <a:latin typeface="Montserrat Medium" pitchFamily="34" charset="0"/>
                <a:ea typeface="Montserrat Medium" pitchFamily="34" charset="-122"/>
                <a:cs typeface="Montserrat Medium" pitchFamily="34" charset="-120"/>
              </a:rPr>
              <a:t>₹3,125</a:t>
            </a:r>
            <a:endParaRPr lang="en-US" sz="1250" dirty="0"/>
          </a:p>
        </p:txBody>
      </p:sp>
      <p:sp>
        <p:nvSpPr>
          <p:cNvPr id="27" name="Text 25"/>
          <p:cNvSpPr/>
          <p:nvPr/>
        </p:nvSpPr>
        <p:spPr>
          <a:xfrm>
            <a:off x="9084142" y="5054798"/>
            <a:ext cx="2316898" cy="184051"/>
          </a:xfrm>
          <a:prstGeom prst="rect">
            <a:avLst/>
          </a:prstGeom>
          <a:noFill/>
          <a:ln/>
        </p:spPr>
        <p:txBody>
          <a:bodyPr wrap="none" lIns="0" tIns="0" rIns="0" bIns="0" rtlCol="0" anchor="t"/>
          <a:lstStyle/>
          <a:p>
            <a:pPr algn="l" indent="0" marL="0">
              <a:lnSpc>
                <a:spcPct val="119000"/>
              </a:lnSpc>
              <a:buNone/>
            </a:pPr>
            <a:r>
              <a:rPr lang="en-US" sz="1000" dirty="0">
                <a:solidFill>
                  <a:srgbClr val="3D3E44"/>
                </a:solidFill>
                <a:latin typeface="Inter Light" pitchFamily="34" charset="0"/>
                <a:ea typeface="Inter Light" pitchFamily="34" charset="-122"/>
                <a:cs typeface="Inter Light" pitchFamily="34" charset="-120"/>
              </a:rPr>
              <a:t>Avg Price</a:t>
            </a:r>
            <a:endParaRPr lang="en-US" sz="1000" dirty="0"/>
          </a:p>
        </p:txBody>
      </p:sp>
      <p:sp>
        <p:nvSpPr>
          <p:cNvPr id="28" name="Shape 26"/>
          <p:cNvSpPr/>
          <p:nvPr/>
        </p:nvSpPr>
        <p:spPr>
          <a:xfrm>
            <a:off x="6259753" y="5487888"/>
            <a:ext cx="5276817" cy="798215"/>
          </a:xfrm>
          <a:prstGeom prst="roundRect">
            <a:avLst>
              <a:gd name="adj" fmla="val 14569"/>
            </a:avLst>
          </a:prstGeom>
          <a:solidFill>
            <a:srgbClr val="DFE1EC"/>
          </a:solidFill>
          <a:ln/>
        </p:spPr>
      </p:sp>
      <p:pic>
        <p:nvPicPr>
          <p:cNvPr id="29" name="Image 0" descr="preencoded.png">    </p:cNvPr>
          <p:cNvPicPr>
            <a:picLocks noChangeAspect="1"/>
          </p:cNvPicPr>
          <p:nvPr/>
        </p:nvPicPr>
        <p:blipFill>
          <a:blip r:embed="rId1"/>
          <a:stretch>
            <a:fillRect/>
          </a:stretch>
        </p:blipFill>
        <p:spPr>
          <a:xfrm>
            <a:off x="6388932" y="5641280"/>
            <a:ext cx="161425" cy="129183"/>
          </a:xfrm>
          <a:prstGeom prst="rect">
            <a:avLst/>
          </a:prstGeom>
        </p:spPr>
      </p:pic>
      <p:sp>
        <p:nvSpPr>
          <p:cNvPr id="30" name="Text 27"/>
          <p:cNvSpPr/>
          <p:nvPr/>
        </p:nvSpPr>
        <p:spPr>
          <a:xfrm>
            <a:off x="6679537" y="5610920"/>
            <a:ext cx="4727854" cy="552152"/>
          </a:xfrm>
          <a:prstGeom prst="rect">
            <a:avLst/>
          </a:prstGeom>
          <a:noFill/>
          <a:ln/>
        </p:spPr>
        <p:txBody>
          <a:bodyPr wrap="square" lIns="0" tIns="0" rIns="0" bIns="0" rtlCol="0" anchor="t">
            <a:normAutofit/>
          </a:bodyPr>
          <a:lstStyle/>
          <a:p>
            <a:pPr algn="l" indent="0" marL="0">
              <a:lnSpc>
                <a:spcPct val="119000"/>
              </a:lnSpc>
              <a:buNone/>
            </a:pPr>
            <a:r>
              <a:rPr lang="en-US" sz="1000" b="1" dirty="0">
                <a:solidFill>
                  <a:srgbClr val="000000"/>
                </a:solidFill>
                <a:latin typeface="Inter Bold" pitchFamily="34" charset="0"/>
                <a:ea typeface="Inter Bold" pitchFamily="34" charset="-122"/>
                <a:cs typeface="Inter Bold" pitchFamily="34" charset="-120"/>
              </a:rPr>
              <a:t>Important limitation:</a:t>
            </a:r>
            <a:pPr algn="l" indent="0" marL="0">
              <a:lnSpc>
                <a:spcPct val="119000"/>
              </a:lnSpc>
              <a:buNone/>
            </a:pPr>
            <a:r>
              <a:rPr lang="en-US" sz="1000" dirty="0">
                <a:solidFill>
                  <a:srgbClr val="000000"/>
                </a:solidFill>
                <a:latin typeface="Inter Light" pitchFamily="34" charset="0"/>
                <a:ea typeface="Inter Light" pitchFamily="34" charset="-122"/>
                <a:cs typeface="Inter Light" pitchFamily="34" charset="-120"/>
              </a:rPr>
              <a:t> Because this dataset lacks revenue, units sold, profit, and region, the SWOT and recommendations should be described as business implications and hypotheses — not proven financial outcomes.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2026-09-12T20:46:10Z</dcterms:created>
  <dcterms:modified xsi:type="dcterms:W3CDTF">2026-09-12T20:46:10Z</dcterms:modified>
</cp:coreProperties>
</file>